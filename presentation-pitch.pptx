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887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Microsoft JhengHei"/>
                <a:ea typeface="Microsoft JhengHei"/>
                <a:cs typeface="Microsoft JhengHei"/>
              </a:rPr>
              <a:t>開場（30 秒）：現場才公布題目與幣種，15 分鐘，原則上只有一次執行機會。我們做的不是一個更會講話的 Agent，是一個把自己每一步都攤開來讓人查的 Agent。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支援 BTC / ETH / SOL / BNB / XRP，一次一至兩幣。900 秒硬上限，四項固定 artifacts。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操作提示：N 開關講稿、A 跳到附錄、方向鍵或 Space 換頁、Ctrl+P 匯出 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Microsoft JhengHei"/>
                <a:ea typeface="Microsoft JhengHei"/>
                <a:cs typeface="Microsoft JhengHei"/>
              </a:rPr>
              <a:t>核心轉折（60 秒）：任何 LLM 都能生出一份看起來很專業的市場分析。問題是評審沒辦法驗證它——這才是這個題目真正的難點。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三種失敗模式都不是「模型不夠聰明」，而是「系統沒有結構去擋」。所以我們的答案不在 prompt，在架構。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要能被驗證的四件事：資料從哪來、怎麼推論、哪些證據互相衝突、哪些限制會影響結論。後面每一頁都在回答其中一項。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Microsoft JhengHei"/>
                <a:ea typeface="Microsoft JhengHei"/>
                <a:cs typeface="Microsoft JhengHei"/>
              </a:rPr>
              <a:t>價值主張（45 秒）：產品定位不是預測價格，而是「在時限內交出一份知道自己哪裡不知道的分析」。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四個數字逐一講：100% 是可回溯率——每個結論都指得到 Evidence ID，指不到就明確標 insufficient_data=true，不含糊帶過。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0 是最關鍵的一個：所有報酬、波動、回撤、量能 z-score 全部由 deterministic Python 算，LLM 連補值都不行。缺 bar 就標 unavailable，不 forward-fill 硬湊。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3 次 LLM 呼叫是上限不是平均——Planner、Research 抽取、Arbiter 各一次，沒有 agent loop。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Microsoft JhengHei"/>
                <a:ea typeface="Microsoft JhengHei"/>
                <a:cs typeface="Microsoft JhengHei"/>
              </a:rPr>
              <a:t>這是全場最重要的一頁（60 秒）：一般 Agent 的賣點是「它能自己決定做什麼」。這裡的賣點相反——它能自己決定做什麼，但能做的事情是一個事先固定、有限的集合。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關鍵在最後一句：劃定這個範圍的那段程式，不接受 LLM 或外部內容修改。 allowlist 是靜態設定檔，沒有 runtime plugin discovery、沒有遠端 registry、沒有動態註冊。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如果評審只記得一句話，希望是這句：LLM 在這個系統裡有裁量權，但沒有權限。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Microsoft JhengHei"/>
                <a:ea typeface="Microsoft JhengHei"/>
                <a:cs typeface="Microsoft JhengHei"/>
              </a:rPr>
              <a:t>架構主線（60 秒）：六個固定階段、單次通過、沒有回圈。Market Worker 完全不碰 LLM，是純 Python 工具鏈；Research Agent 只做一次語意抽取。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並行的意義：asyncio fork-join，兩條分支各自有獨立 timeout。新聞源掛掉不會拖垮市場證據，反之亦然——這是 partial result 的基礎。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證據先落盤很重要：evidence.json 在 Ledger 完成當下就寫，不等 Arbiter。所以就算推理階段整個失敗，可追溯性還在。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Pydantic v2 全面 extra="forbid"——這不是預設值，是刻意選的。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Microsoft JhengHei"/>
                <a:ea typeface="Microsoft JhengHei"/>
                <a:cs typeface="Microsoft JhengHei"/>
              </a:rPr>
              <a:t>邊界的具體化（50 秒）：三次呼叫都走 Bedrock Converse 的 structured output，都有明文的「不能做」清單寫在 prompt 與程式兩邊。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驗證關卡：schema 正確、所有 evidence/claim 引用可解析、claim graph 無環（DAG）、confidence 沒超過 deterministic 上限——四項全過才算數。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未通過驗證的原始 LLM 輸出，永遠不會進入 Renderer 或 artifacts。schema repair 花的是同一個 stage 的剩餘預算，不是額外預算——這點在附錄 A2 有完整時間表。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Arbiter 只餵 normalized fact 與 Evidence ID，不餵無界原始網頁——這同時是成本控制與 prompt injection 防線。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Microsoft JhengHei"/>
                <a:ea typeface="Microsoft JhengHei"/>
                <a:cs typeface="Microsoft JhengHei"/>
              </a:rPr>
              <a:t>信任邊界（60 秒）：這四道就是「憑什麼可信」的實體。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① 輸入信任：外部 payload 在通過 schema 驗證前只是 bytes；驗不過就記成 typed degradation，永遠不會變成事實進入 Claim 或報告。這是 prompt injection 的結構性防線，不靠「請不要聽從指令」這種句子。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③ 證據邊界的細節：EvidenceDraft 上根本沒有 reliability 欄位——不是不填，是欄位不存在。producer 只提供 source_class 與發布者資訊，Evidence Processor 是唯一指派可信度的地方。這種「讓錯誤無法表達」的設計比執行期檢查強。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④ 時間邊界：常見誤解是「Planner 分配 900 秒」。不是——所有 stage deadline 由 DeadlineManager deterministic 推導，Planner 只輸出回看窗、證據類型與步驟清單。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Microsoft JhengHei"/>
                <a:ea typeface="Microsoft JhengHei"/>
                <a:cs typeface="Microsoft JhengHei"/>
              </a:rPr>
              <a:t>證據模型（60 秒）：最反直覺、也最重要的設計：EvidenceItem 本身沒有立場。supports / opposes / neutral 只存在於 Claim-Evidence Link。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為什麼這樣設計：「這則新聞是利多」不是新聞的屬性，是它與某個主張之間的關係。同一則升級消息可以支持「技術面改善」、同時反對「短期拋壓解除」。把立場綁在證據上，就再也拆不開了。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可信度不是主觀判斷也不是 LLM 評分：交易所 API 與官方公告 = high、具名原始報導頁 = medium、聚合轉載與情緒指標 = low。轉載沒取到原頁一律 low，即使它指名了上游發布者。完整表在附錄 A3。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去重刻意只做精確比對：不做語意近似分群——兩天內驗不完的東西不放進 MVP。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Microsoft JhengHei"/>
                <a:ea typeface="Microsoft JhengHei"/>
                <a:cs typeface="Microsoft JhengHei"/>
              </a:rPr>
              <a:t>來源策略（50 秒）：幣種現場才抽，所以來源政策必須幣種無關。入選標準只有一條：用幣種符號就能統一查五幣。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被我們刻意排除的：各鏈區塊瀏覽器（Etherscan=ETH、Solscan=SOL、XRPL 各不同）、各專案官方 Blog——這些要為每個幣各寫一套。與其冒著現場抽到沒涵蓋的幣開天窗，不如誠實揭露缺口。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原型的成績：市場層有兩個獨立交易所（Binance + OKX）可交叉驗證，另外加了永續資金費率這個衍生品維度來看槓桿情緒。一次真 live 跑約 60 張證據卡。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要誠實區分：這是 p2-etl-mvp/ 的實測數字，不是主管線目前接線的來源。如果評審追問，主管線接的是主辦 CSV + Binance + CoinDesk RSS + Google News + Fear&amp;Greed（附錄 A4）。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噪音處理哲學：不主觀刪源，而是分級加隔離——低訊號社群鎖在 low，結構上無法驅動高信心結論。這比直接刪除更可回溯。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Microsoft JhengHei"/>
                <a:ea typeface="Microsoft JhengHei"/>
                <a:cs typeface="Microsoft JhengHei"/>
              </a:rPr>
              <a:t>回應第 2 頁的風險 02（50 秒）：判定條件是三個 AND，全部 deterministic：同一個 Claim 同時有 supports 與 opposes、雙方 reliability 都至少 medium、且來自不同 independence group。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順序很關鍵：衝突是在 Arbiter 拿到證據之前就判定並鎖好的。模型收到的 payload 裡，那個結論的 confidence 上限已經被壓成 low 了。它不是「被說服要保留反方」，是沒有相反的選項可選。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反過來的誠實：找不到可信反方訊號時，系統會列出已查詢的來源，並把「未找到反方」明確列為限制——不假造一個反方來湊平衡。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報告第 5 段「主要反方或矛盾證據」是固定段落，不是有才寫。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Microsoft JhengHei"/>
                <a:ea typeface="Microsoft JhengHei"/>
                <a:cs typeface="Microsoft JhengHei"/>
              </a:rPr>
              <a:t>回應第 2 頁的風險 03（60 秒）：完整失敗矩陣在附錄 A1，這裡挑五個代表。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特別強調一條：baseline 市場源失敗時，我們產生誠實的 partial／degraded，不宣稱切換到第二個 live provider——因為 MVP 根本沒有第二個。宣稱有備援但其實沒有，比沒有備援更糟。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降級不是靜默的：每一種降級都在三個地方留下痕跡——UI 的來源狀態、execution_log.jsonl 的 typed degradation event、報告的「限制與資料缺口」段落。評審看得到系統知道自己缺了什麼。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三種 run mode 不可混淆：official 禁 fixture 與預存答案；rehearsal 可用 fixtures 但必須標示；demo 必須顯示 recorded fallback 橫幅與原始取得時間。三者在 UI、log 與 run_config.json 都清楚可辨。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Microsoft JhengHei"/>
                <a:ea typeface="Microsoft JhengHei"/>
                <a:cs typeface="Microsoft JhengHei"/>
              </a:rPr>
              <a:t>時間工程（45 秒）：完整八個里程碑在附錄 A2。這裡只要記三個數字。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720：第 12 分鐘停止分析，取消所有還在跑的外部與 LLM 呼叫。780：第 13 分鐘前四個檔案落盤。900：剩下兩分鐘全部留給現場抖動與評審操作。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為什麼 retry 不能加預算：如果 retry 可以延長時限，那 deadline 就不是 deadline 了。單次外部呼叫上限 45 秒、最多 retry 一次、schema repair 最多一次——全部共用原 stage 預算。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deadline 較短時：各 stage 按比例縮放，並保留最後 20%（可能時至少 60 秒）給 deterministic finalize。這條保證了任何時間預算下都交得出 artifacts。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Microsoft JhengHei"/>
                <a:ea typeface="Microsoft JhengHei"/>
                <a:cs typeface="Microsoft JhengHei"/>
              </a:rPr>
              <a:t>可稽核的交付（50 秒）：四個檔案共用同一個 run_id，與 UI 顯示的一致。全部以「同目錄暫存檔 → flush → os.replace」原子寫入。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報告 11 個固定段落：直接回答／市場狀況與時間範圍／已確認事實／主要支持證據／主要反方或矛盾證據／推論／結論／信心與原因／限制與資料缺口／失效條件／後續觀察重點。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禁語 lint 是最後執行的：不管前面發生什麼，報告出去前一定跑一次字串檢查。這是產品定位的硬性保證——研究導向分析，不提供投資建議。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安全：prompt 只記版本 ID 不記全文；.env、API key、AWS 憑證不進 UI、log、artifact 或 repo；run_config.json 只記 optional key 的存在布林值，不記值。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Microsoft JhengHei"/>
                <a:ea typeface="Microsoft JhengHei"/>
                <a:cs typeface="Microsoft JhengHei"/>
              </a:rPr>
              <a:t>加分層（50 秒）：這一層只是把既有的嚴謹度「顯影」出來，不會變成第二個真相來源。全部 deterministic、幣種無關、可誠實降級。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Trust Scorecard 的自我約束：必須與 confidence 一致——少於 2 個獨立群不得標 strong；有 material conflict 時一致性不得高於 weak。而且不輸出未校準的百分比，只給等級加原始計數（例如「3 個獨立群」）。只為 conclusion 產生，fact 與 inference 不產。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Market Regime 的幣種無關性：門檻一律拿該資產自己的 rolling 歷史比（百分位／z-score），不用跨幣絕對值。缺 bar 就標 unavailable。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雙幣比較的關鍵理由：比較只有在兩個資產的證據進入同一個 Arbiter payload 時才存在。而且跨幣永遠不比 base-asset volume（單位不同），只用報酬差、各自百分位、相對強弱比值。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Microsoft JhengHei"/>
                <a:ea typeface="Microsoft JhengHei"/>
                <a:cs typeface="Microsoft JhengHei"/>
              </a:rPr>
              <a:t>收尾（30 秒）：回到第 2 頁的四個問題——資料從哪來（Evidence Ledger）、怎麼推論（fact → inference → conclusion）、哪些證據衝突（material conflict 雙方保留）、哪些限制影響結論（限制段落與 Trust Scorecard）。四個都在 artifacts 裡，評審可以自己查。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三個補充賣點（有時間才講）：幣種無關——pipeline 以 {asset} 為參數，沒有 if asset == "BTC" 這種分支。可離線驗證——外部世界全關在 port/adapter 之後，預設測試套件完全不碰外網。單機可交付——單一 non-root Docker image → ECR → 單台 EC2，Bedrock 走 instance role，不把長效 key 烘進 image。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H3 一定要主動說：Bull／Bear／Judge 多輪辯論只有預設關閉的 stub，我們不宣稱 live 啟用過。主動揭露比被問出來好。</a:t>
            </a:r>
          </a:p>
          <a:p>
            <a:r>
              <a:rPr sz="1100">
                <a:latin typeface="Microsoft JhengHei"/>
                <a:ea typeface="Microsoft JhengHei"/>
                <a:cs typeface="Microsoft JhengHei"/>
              </a:rPr>
              <a:t>接下來按 A 進附錄，Q&amp;A 時可直接跳到對應的表。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Microsoft JhengHei"/>
                <a:ea typeface="Microsoft JhengHei"/>
                <a:cs typeface="Microsoft JhengHei"/>
              </a:rPr>
              <a:t>Q&amp;A 用。若被問「某某來源掛了會怎樣」，直接指這張表對應的列。重點句：沒有任何一條路徑會讓系統交不出東西。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Microsoft JhengHei"/>
                <a:ea typeface="Microsoft JhengHei"/>
                <a:cs typeface="Microsoft JhengHei"/>
              </a:rPr>
              <a:t>Q&amp;A 用。若被問「時間不夠怎麼辦」，重點是跳過順序是寫死的，不是模型當下決定的——所以行為可預測、可測試。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Microsoft JhengHei"/>
                <a:ea typeface="Microsoft JhengHei"/>
                <a:cs typeface="Microsoft JhengHei"/>
              </a:rPr>
              <a:t>Q&amp;A 用。最有力的一句：confidence 上限是 deterministic 且後於 LLM 執行的——模型講得再有信心，也會被規則壓下來。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Microsoft JhengHei"/>
                <a:ea typeface="Microsoft JhengHei"/>
                <a:cs typeface="Microsoft JhengHei"/>
              </a:rPr>
              <a:t>Q&amp;A 用。如果評審問「你們到底接了幾個來源」，先答主管線那份，再說原型驗過更廣的廣度。不要把兩份加起來講。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Microsoft JhengHei"/>
                <a:ea typeface="Microsoft JhengHei"/>
                <a:cs typeface="Microsoft JhengHei"/>
              </a:rPr>
              <a:t>Q&amp;A 用，也是誠實度的展示。若被問「為什麼不用 LangGraph／不做 debate」，答案是：固定拓撲的 deadline 與取消語意更直接，junior 也除錯得動；能力換的是可預測性與可交付性。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HOYA</a:t>
            </a:r>
            <a:r>
              <a:rPr sz="95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Market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98687" y="27432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Consolas"/>
                <a:ea typeface="Microsoft JhengHei"/>
                <a:cs typeface="Microsoft JhengHei"/>
              </a:rPr>
              <a:t>01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572768"/>
            <a:ext cx="10692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2026 雲湧智生 · 臺灣生成式 AI 應用黑客松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975104"/>
            <a:ext cx="106920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HOYA Market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27248"/>
            <a:ext cx="106920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有界推理的加密市場分析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77159" y="3913632"/>
            <a:ext cx="113614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E6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60039" y="3913632"/>
            <a:ext cx="953262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11726"/>
                </a:solidFill>
                <a:latin typeface="Consolas"/>
                <a:ea typeface="Microsoft JhengHei"/>
                <a:cs typeface="Microsoft JhengHei"/>
              </a:rPr>
              <a:t>Python 3.12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6765" y="3913632"/>
            <a:ext cx="113614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E6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79645" y="3913632"/>
            <a:ext cx="953262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11726"/>
                </a:solidFill>
                <a:latin typeface="Consolas"/>
                <a:ea typeface="Microsoft JhengHei"/>
                <a:cs typeface="Microsoft JhengHei"/>
              </a:rPr>
              <a:t>Pydantic v2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6371" y="3913632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E6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99251" y="3913632"/>
            <a:ext cx="1193292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11726"/>
                </a:solidFill>
                <a:latin typeface="Consolas"/>
                <a:ea typeface="Microsoft JhengHei"/>
                <a:cs typeface="Microsoft JhengHei"/>
              </a:rPr>
              <a:t>Amazon Bedrock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6007" y="3913632"/>
            <a:ext cx="97612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E6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58887" y="3913632"/>
            <a:ext cx="793242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11726"/>
                </a:solidFill>
                <a:latin typeface="Consolas"/>
                <a:ea typeface="Microsoft JhengHei"/>
                <a:cs typeface="Microsoft JhengHei"/>
              </a:rPr>
              <a:t>Streamlit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35593" y="3913632"/>
            <a:ext cx="567401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E6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18473" y="3913632"/>
            <a:ext cx="313181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11726"/>
                </a:solidFill>
                <a:latin typeface="Consolas"/>
                <a:ea typeface="Microsoft JhengHei"/>
                <a:cs typeface="Microsoft JhengHei"/>
              </a:rPr>
              <a:t>EC2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HOYA</a:t>
            </a:r>
            <a:r>
              <a:rPr sz="95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Market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98687" y="27432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Consolas"/>
                <a:ea typeface="Microsoft JhengHei"/>
                <a:cs typeface="Microsoft JhengHei"/>
              </a:rPr>
              <a:t>02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2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題目的真正難點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060704"/>
            <a:ext cx="106920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1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難的不是「答得出來」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10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是「答了憑什麼信」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42716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8" b="1">
                <a:solidFill>
                  <a:srgbClr val="A82B2B"/>
                </a:solidFill>
                <a:latin typeface="Consolas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401568"/>
            <a:ext cx="9850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數字是編的</a:t>
            </a:r>
            <a:r>
              <a:rPr sz="13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 模型算的還是想的，查不出來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991356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8" b="1">
                <a:solidFill>
                  <a:srgbClr val="A82B2B"/>
                </a:solidFill>
                <a:latin typeface="Consolas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3950208"/>
            <a:ext cx="9850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矛盾被抹平</a:t>
            </a:r>
            <a:r>
              <a:rPr sz="13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 敘事順暢的代價是吃掉反方證據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539996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8" b="1">
                <a:solidFill>
                  <a:srgbClr val="A82B2B"/>
                </a:solidFill>
                <a:latin typeface="Consolas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4498848"/>
            <a:ext cx="9850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失敗變成幻覺</a:t>
            </a:r>
            <a:r>
              <a:rPr sz="13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 API 掛掉時安靜補一段合理的假話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5358384"/>
            <a:ext cx="1051560" cy="11430"/>
          </a:xfrm>
          <a:prstGeom prst="rect">
            <a:avLst/>
          </a:prstGeom>
          <a:solidFill>
            <a:srgbClr val="E6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5632704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所以目標從「產出一份分析」換成 </a:t>
            </a:r>
            <a:r>
              <a:rPr sz="14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產出一份能被逐條驗證的分析</a:t>
            </a:r>
            <a:r>
              <a:rPr sz="145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HOYA</a:t>
            </a:r>
            <a:r>
              <a:rPr sz="95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Market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98687" y="27432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Consolas"/>
                <a:ea typeface="Microsoft JhengHei"/>
                <a:cs typeface="Microsoft JhengHei"/>
              </a:rPr>
              <a:t>03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88720"/>
            <a:ext cx="10692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一句話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572768"/>
            <a:ext cx="106920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把多個來源變成一份可回溯的</a:t>
            </a:r>
            <a:r>
              <a:rPr sz="400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證據帳本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再從帳本推論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3822191"/>
            <a:ext cx="10692079" cy="11430"/>
          </a:xfrm>
          <a:prstGeom prst="rect">
            <a:avLst/>
          </a:prstGeom>
          <a:solidFill>
            <a:srgbClr val="E6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4096511"/>
            <a:ext cx="267301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4732527"/>
            <a:ext cx="24901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結論可回溯至 Evidence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否則標 insufficient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2827" y="3931920"/>
            <a:ext cx="11430" cy="1554480"/>
          </a:xfrm>
          <a:prstGeom prst="rect">
            <a:avLst/>
          </a:prstGeom>
          <a:solidFill>
            <a:srgbClr val="F0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2827" y="4096511"/>
            <a:ext cx="267301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726"/>
                </a:solidFill>
                <a:latin typeface="Consolas"/>
                <a:ea typeface="Microsoft JhengHei"/>
                <a:cs typeface="Microsoft JhengHe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4267" y="4732527"/>
            <a:ext cx="24901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由 LLM 產生的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市場數值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7" y="3931920"/>
            <a:ext cx="11430" cy="1554480"/>
          </a:xfrm>
          <a:prstGeom prst="rect">
            <a:avLst/>
          </a:prstGeom>
          <a:solidFill>
            <a:srgbClr val="F0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5847" y="4096511"/>
            <a:ext cx="267301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726"/>
                </a:solidFill>
                <a:latin typeface="Consolas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4732527"/>
            <a:ext cx="24901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受限 LLM 呼叫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全系統上限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68867" y="3931920"/>
            <a:ext cx="11430" cy="1554480"/>
          </a:xfrm>
          <a:prstGeom prst="rect">
            <a:avLst/>
          </a:prstGeom>
          <a:solidFill>
            <a:srgbClr val="F0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68867" y="4096511"/>
            <a:ext cx="267301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726"/>
                </a:solidFill>
                <a:latin typeface="Consolas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0307" y="4732527"/>
            <a:ext cx="24901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固定檔名 artifacts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失敗時照樣交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HOYA</a:t>
            </a:r>
            <a:r>
              <a:rPr sz="95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Market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98687" y="27432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Consolas"/>
                <a:ea typeface="Microsoft JhengHei"/>
                <a:cs typeface="Microsoft JhengHei"/>
              </a:rPr>
              <a:t>04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2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核心設計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042415"/>
            <a:ext cx="106920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有裁量權</a:t>
            </a:r>
            <a:r>
              <a:rPr sz="440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，</a:t>
            </a:r>
            <a:r>
              <a:rPr sz="44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但沒有權限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395728"/>
            <a:ext cx="10692079" cy="3310128"/>
          </a:xfrm>
          <a:prstGeom prst="roundRect">
            <a:avLst>
              <a:gd name="adj" fmla="val 4419"/>
            </a:avLst>
          </a:prstGeom>
          <a:noFill/>
          <a:ln w="11430">
            <a:solidFill>
              <a:srgbClr val="E6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57123" y="2403043"/>
            <a:ext cx="5338724" cy="3295497"/>
          </a:xfrm>
          <a:prstGeom prst="rect">
            <a:avLst/>
          </a:prstGeom>
          <a:solidFill>
            <a:srgbClr val="FD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5847" y="2403043"/>
            <a:ext cx="5338724" cy="3295497"/>
          </a:xfrm>
          <a:prstGeom prst="rect">
            <a:avLst/>
          </a:prstGeom>
          <a:solidFill>
            <a:srgbClr val="EB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9808" y="2395728"/>
            <a:ext cx="10692079" cy="3310128"/>
          </a:xfrm>
          <a:prstGeom prst="roundRect">
            <a:avLst>
              <a:gd name="adj" fmla="val 4419"/>
            </a:avLst>
          </a:prstGeom>
          <a:noFill/>
          <a:ln w="11430">
            <a:solidFill>
              <a:srgbClr val="E6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5847" y="2395728"/>
            <a:ext cx="11430" cy="3310128"/>
          </a:xfrm>
          <a:prstGeom prst="rect">
            <a:avLst/>
          </a:prstGeom>
          <a:solidFill>
            <a:srgbClr val="E6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" y="2706624"/>
            <a:ext cx="47242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205"/>
                </a:solidFill>
                <a:latin typeface="Microsoft JhengHei"/>
                <a:ea typeface="Microsoft JhengHei"/>
                <a:cs typeface="Microsoft JhengHei"/>
              </a:rPr>
              <a:t>L L M   會做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0704" y="3259836"/>
            <a:ext cx="91440" cy="25603"/>
          </a:xfrm>
          <a:prstGeom prst="rect">
            <a:avLst/>
          </a:prstGeom>
          <a:solidFill>
            <a:srgbClr val="B068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3145536"/>
            <a:ext cx="450479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從靜態允許清單挑操作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" y="3744468"/>
            <a:ext cx="91440" cy="25603"/>
          </a:xfrm>
          <a:prstGeom prst="rect">
            <a:avLst/>
          </a:prstGeom>
          <a:solidFill>
            <a:srgbClr val="B068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80160" y="3630168"/>
            <a:ext cx="450479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引用工具算出的數值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0704" y="4229100"/>
            <a:ext cx="91440" cy="25603"/>
          </a:xfrm>
          <a:prstGeom prst="rect">
            <a:avLst/>
          </a:prstGeom>
          <a:solidFill>
            <a:srgbClr val="B068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4114800"/>
            <a:ext cx="450479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引用 Evidence ID 組主張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0704" y="4713732"/>
            <a:ext cx="91440" cy="25603"/>
          </a:xfrm>
          <a:prstGeom prst="rect">
            <a:avLst/>
          </a:prstGeom>
          <a:solidFill>
            <a:srgbClr val="B068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80160" y="4599432"/>
            <a:ext cx="450479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固定六階段各跑一次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6743" y="2706624"/>
            <a:ext cx="47242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3F96"/>
                </a:solidFill>
                <a:latin typeface="Microsoft JhengHei"/>
                <a:ea typeface="Microsoft JhengHei"/>
                <a:cs typeface="Microsoft JhengHei"/>
              </a:rPr>
              <a:t>D E T E R M I N I S T I C   擋掉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6743" y="3259836"/>
            <a:ext cx="91440" cy="25603"/>
          </a:xfrm>
          <a:prstGeom prst="rect">
            <a:avLst/>
          </a:prstGeom>
          <a:solidFill>
            <a:srgbClr val="1A4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6199" y="3145536"/>
            <a:ext cx="450479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自造 provider 或 API 網址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6743" y="3744468"/>
            <a:ext cx="91440" cy="25603"/>
          </a:xfrm>
          <a:prstGeom prst="rect">
            <a:avLst/>
          </a:prstGeom>
          <a:solidFill>
            <a:srgbClr val="1A4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26199" y="3630168"/>
            <a:ext cx="450479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自由 agent loop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6743" y="4229100"/>
            <a:ext cx="91440" cy="25603"/>
          </a:xfrm>
          <a:prstGeom prst="rect">
            <a:avLst/>
          </a:prstGeom>
          <a:solidFill>
            <a:srgbClr val="1A4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26199" y="4114800"/>
            <a:ext cx="450479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補值、猜值、自造數字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6743" y="4713732"/>
            <a:ext cx="91440" cy="25603"/>
          </a:xfrm>
          <a:prstGeom prst="rect">
            <a:avLst/>
          </a:prstGeom>
          <a:solidFill>
            <a:srgbClr val="1A4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6199" y="4599432"/>
            <a:ext cx="450479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把自己輸出當證據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6743" y="5198364"/>
            <a:ext cx="91440" cy="25603"/>
          </a:xfrm>
          <a:prstGeom prst="rect">
            <a:avLst/>
          </a:prstGeom>
          <a:solidFill>
            <a:srgbClr val="1A4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26199" y="5084064"/>
            <a:ext cx="450479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延長 deadline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61888"/>
            <a:ext cx="106920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劃定這個範圍的那段程式，</a:t>
            </a:r>
            <a:r>
              <a:rPr sz="14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不接受 LLM 或外部內容修改</a:t>
            </a:r>
            <a:r>
              <a:rPr sz="140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HOYA</a:t>
            </a:r>
            <a:r>
              <a:rPr sz="95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Market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98687" y="27432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Consolas"/>
                <a:ea typeface="Microsoft JhengHei"/>
                <a:cs typeface="Microsoft JhengHei"/>
              </a:rPr>
              <a:t>05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2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工作流程 · H2-Lite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042415"/>
            <a:ext cx="106920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六階段</a:t>
            </a:r>
            <a:r>
              <a:rPr sz="420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，</a:t>
            </a:r>
            <a:r>
              <a:rPr sz="42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單次</a:t>
            </a:r>
            <a:r>
              <a:rPr sz="420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，</a:t>
            </a:r>
            <a:r>
              <a:rPr sz="42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不循環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212848"/>
            <a:ext cx="1583893" cy="1188720"/>
          </a:xfrm>
          <a:prstGeom prst="roundRect">
            <a:avLst>
              <a:gd name="adj" fmla="val 10000"/>
            </a:avLst>
          </a:prstGeom>
          <a:solidFill>
            <a:srgbClr val="FDF2E2"/>
          </a:solidFill>
          <a:ln w="15240">
            <a:solidFill>
              <a:srgbClr val="EEC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8A5205"/>
                </a:solidFill>
                <a:latin typeface="Microsoft JhengHei"/>
                <a:ea typeface="Microsoft JhengHei"/>
                <a:cs typeface="Microsoft JhengHei"/>
              </a:rPr>
              <a:t>① Plan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1 次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3701" y="2212848"/>
            <a:ext cx="237744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C9C2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71445" y="2212848"/>
            <a:ext cx="1583893" cy="548640"/>
          </a:xfrm>
          <a:prstGeom prst="roundRect">
            <a:avLst>
              <a:gd name="adj" fmla="val 21666"/>
            </a:avLst>
          </a:prstGeom>
          <a:solidFill>
            <a:srgbClr val="EBF0FC"/>
          </a:solidFill>
          <a:ln w="15240">
            <a:solidFill>
              <a:srgbClr val="BC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73F96"/>
                </a:solidFill>
                <a:latin typeface="Microsoft JhengHei"/>
                <a:ea typeface="Microsoft JhengHei"/>
                <a:cs typeface="Microsoft JhengHei"/>
              </a:rPr>
              <a:t>② Market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8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deterministic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71445" y="2852927"/>
            <a:ext cx="1583893" cy="548640"/>
          </a:xfrm>
          <a:prstGeom prst="roundRect">
            <a:avLst>
              <a:gd name="adj" fmla="val 21666"/>
            </a:avLst>
          </a:prstGeom>
          <a:solidFill>
            <a:srgbClr val="FDF2E2"/>
          </a:solidFill>
          <a:ln w="15240">
            <a:solidFill>
              <a:srgbClr val="EEC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8A5205"/>
                </a:solidFill>
                <a:latin typeface="Microsoft JhengHei"/>
                <a:ea typeface="Microsoft JhengHei"/>
                <a:cs typeface="Microsoft JhengHei"/>
              </a:rPr>
              <a:t>② Research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8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1 次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55338" y="2212848"/>
            <a:ext cx="237744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C9C2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3082" y="2212848"/>
            <a:ext cx="1583893" cy="1188720"/>
          </a:xfrm>
          <a:prstGeom prst="roundRect">
            <a:avLst>
              <a:gd name="adj" fmla="val 10000"/>
            </a:avLst>
          </a:prstGeom>
          <a:solidFill>
            <a:srgbClr val="EBF0FC"/>
          </a:solidFill>
          <a:ln w="15240">
            <a:solidFill>
              <a:srgbClr val="BC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3F96"/>
                </a:solidFill>
                <a:latin typeface="Microsoft JhengHei"/>
                <a:ea typeface="Microsoft JhengHei"/>
                <a:cs typeface="Microsoft JhengHei"/>
              </a:rPr>
              <a:t>③ Process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去重 · 衝突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76975" y="2212848"/>
            <a:ext cx="237744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C9C2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4719" y="2212848"/>
            <a:ext cx="1583893" cy="1188720"/>
          </a:xfrm>
          <a:prstGeom prst="roundRect">
            <a:avLst>
              <a:gd name="adj" fmla="val 10000"/>
            </a:avLst>
          </a:prstGeom>
          <a:solidFill>
            <a:srgbClr val="FDF2E2"/>
          </a:solidFill>
          <a:ln w="15240">
            <a:solidFill>
              <a:srgbClr val="EEC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8A5205"/>
                </a:solidFill>
                <a:latin typeface="Microsoft JhengHei"/>
                <a:ea typeface="Microsoft JhengHei"/>
                <a:cs typeface="Microsoft JhengHei"/>
              </a:rPr>
              <a:t>④ Reason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1 次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8612" y="2212848"/>
            <a:ext cx="237744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C9C2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6356" y="2212848"/>
            <a:ext cx="1583893" cy="1188720"/>
          </a:xfrm>
          <a:prstGeom prst="roundRect">
            <a:avLst>
              <a:gd name="adj" fmla="val 10000"/>
            </a:avLst>
          </a:prstGeom>
          <a:solidFill>
            <a:srgbClr val="EBF0FC"/>
          </a:solidFill>
          <a:ln w="15240">
            <a:solidFill>
              <a:srgbClr val="BC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3F96"/>
                </a:solidFill>
                <a:latin typeface="Microsoft JhengHei"/>
                <a:ea typeface="Microsoft JhengHei"/>
                <a:cs typeface="Microsoft JhengHei"/>
              </a:rPr>
              <a:t>⑤ Render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報告 · lint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49" y="2212848"/>
            <a:ext cx="237744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C9C2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57993" y="2212848"/>
            <a:ext cx="1583893" cy="1188720"/>
          </a:xfrm>
          <a:prstGeom prst="roundRect">
            <a:avLst>
              <a:gd name="adj" fmla="val 10000"/>
            </a:avLst>
          </a:prstGeom>
          <a:solidFill>
            <a:srgbClr val="E4F4EC"/>
          </a:solidFill>
          <a:ln w="15240">
            <a:solidFill>
              <a:srgbClr val="A8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B6544"/>
                </a:solidFill>
                <a:latin typeface="Microsoft JhengHei"/>
                <a:ea typeface="Microsoft JhengHei"/>
                <a:cs typeface="Microsoft JhengHei"/>
              </a:rPr>
              <a:t>⑥ Finalize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4 檔案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726179"/>
            <a:ext cx="105156" cy="105156"/>
          </a:xfrm>
          <a:prstGeom prst="roundRect">
            <a:avLst>
              <a:gd name="adj" fmla="val 26086"/>
            </a:avLst>
          </a:prstGeom>
          <a:solidFill>
            <a:srgbClr val="B068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3675887"/>
            <a:ext cx="9870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受限 LLM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36851" y="3726179"/>
            <a:ext cx="105156" cy="105156"/>
          </a:xfrm>
          <a:prstGeom prst="roundRect">
            <a:avLst>
              <a:gd name="adj" fmla="val 26086"/>
            </a:avLst>
          </a:prstGeom>
          <a:solidFill>
            <a:srgbClr val="1A4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938020" y="3675887"/>
            <a:ext cx="1826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deterministic Python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3620" y="3726179"/>
            <a:ext cx="105156" cy="105156"/>
          </a:xfrm>
          <a:prstGeom prst="roundRect">
            <a:avLst>
              <a:gd name="adj" fmla="val 26086"/>
            </a:avLst>
          </a:prstGeom>
          <a:solidFill>
            <a:srgbClr val="0D7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64787" y="3675887"/>
            <a:ext cx="107873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可交付產出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357116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1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315968"/>
            <a:ext cx="9850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兩條取證分支並行</a:t>
            </a:r>
            <a:r>
              <a:rPr sz="11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 任一失敗不取消另一條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832604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1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" y="4791456"/>
            <a:ext cx="9850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證據先落盤</a:t>
            </a:r>
            <a:r>
              <a:rPr sz="11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 不等 Arbiter，它掛了也留得住可追溯性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30809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1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" y="5266944"/>
            <a:ext cx="9850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元件只交換固定 schema</a:t>
            </a:r>
            <a:r>
              <a:rPr sz="11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 沒宣告的欄位是被拒絕，不是被忽略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HOYA</a:t>
            </a:r>
            <a:r>
              <a:rPr sz="95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Market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98687" y="27432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Consolas"/>
                <a:ea typeface="Microsoft JhengHei"/>
                <a:cs typeface="Microsoft JhengHei"/>
              </a:rPr>
              <a:t>06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2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LLM 出現的位置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042415"/>
            <a:ext cx="106920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三次呼叫</a:t>
            </a:r>
            <a:r>
              <a:rPr sz="420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，</a:t>
            </a:r>
            <a:r>
              <a:rPr sz="42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全部結構化輸出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304288"/>
            <a:ext cx="3460394" cy="2011680"/>
          </a:xfrm>
          <a:prstGeom prst="roundRect">
            <a:avLst>
              <a:gd name="adj" fmla="val 6363"/>
            </a:avLst>
          </a:prstGeom>
          <a:solidFill>
            <a:srgbClr val="FFFFFF"/>
          </a:solidFill>
          <a:ln w="11430">
            <a:solidFill>
              <a:srgbClr val="E6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46304" rtlCol="0" anchor="ctr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00" b="1" dirty="0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① PLANNER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決定查什麼</a:t>
            </a:r>
            <a:endParaRPr sz="1450" b="1" dirty="0">
              <a:solidFill>
                <a:srgbClr val="111726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 err="1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只收題目與可用能力，產出</a:t>
            </a:r>
            <a:r>
              <a:rPr sz="1050" b="0" dirty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000" b="0" dirty="0" err="1">
                <a:solidFill>
                  <a:srgbClr val="454F63"/>
                </a:solidFill>
                <a:latin typeface="Consolas"/>
                <a:ea typeface="Microsoft JhengHei"/>
                <a:cs typeface="Microsoft JhengHei"/>
              </a:rPr>
              <a:t>ResearchPlan</a:t>
            </a:r>
            <a:r>
              <a:rPr sz="1050" b="0" dirty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br>
              <a:rPr lang="en-US" sz="1050" b="0" dirty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</a:br>
            <a:br>
              <a:rPr lang="en-US" sz="1050" b="0" dirty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</a:br>
            <a:endParaRPr sz="1050" b="0" dirty="0">
              <a:solidFill>
                <a:srgbClr val="454F63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40000"/>
              </a:lnSpc>
              <a:spcBef>
                <a:spcPts val="700"/>
              </a:spcBef>
              <a:spcAft>
                <a:spcPts val="0"/>
              </a:spcAft>
            </a:pPr>
            <a:r>
              <a:rPr sz="900" b="1" dirty="0" err="1">
                <a:solidFill>
                  <a:srgbClr val="8C1F22"/>
                </a:solidFill>
                <a:latin typeface="Consolas"/>
                <a:ea typeface="Microsoft JhengHei"/>
                <a:cs typeface="Microsoft JhengHei"/>
              </a:rPr>
              <a:t>禁止</a:t>
            </a:r>
            <a:r>
              <a:rPr sz="1050" b="0" dirty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050" b="0" dirty="0" err="1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下市場判斷、指定清單外的工具或網域</a:t>
            </a:r>
            <a:r>
              <a:rPr sz="1050" b="0" dirty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5650" y="2304288"/>
            <a:ext cx="3460394" cy="2011680"/>
          </a:xfrm>
          <a:prstGeom prst="roundRect">
            <a:avLst>
              <a:gd name="adj" fmla="val 6363"/>
            </a:avLst>
          </a:prstGeom>
          <a:solidFill>
            <a:srgbClr val="FFFFFF"/>
          </a:solidFill>
          <a:ln w="11430">
            <a:solidFill>
              <a:srgbClr val="E6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46304" rtlCol="0" anchor="ctr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00" b="1" dirty="0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② RESEARCH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資料變事實</a:t>
            </a:r>
            <a:endParaRPr sz="1450" b="1" dirty="0">
              <a:solidFill>
                <a:srgbClr val="111726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 err="1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只收有界的</a:t>
            </a:r>
            <a:r>
              <a:rPr sz="1050" b="0" dirty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 source </a:t>
            </a:r>
            <a:r>
              <a:rPr sz="1050" b="0" dirty="0" err="1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records，產出引用</a:t>
            </a:r>
            <a:r>
              <a:rPr sz="1050" b="0" dirty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 record ID 的 </a:t>
            </a:r>
            <a:r>
              <a:rPr sz="1000" b="0" dirty="0" err="1">
                <a:solidFill>
                  <a:srgbClr val="454F63"/>
                </a:solidFill>
                <a:latin typeface="Consolas"/>
                <a:ea typeface="Microsoft JhengHei"/>
                <a:cs typeface="Microsoft JhengHei"/>
              </a:rPr>
              <a:t>EvidenceDraft</a:t>
            </a:r>
            <a:r>
              <a:rPr sz="1000" b="0" dirty="0">
                <a:solidFill>
                  <a:srgbClr val="454F63"/>
                </a:solidFill>
                <a:latin typeface="Consolas"/>
                <a:ea typeface="Microsoft JhengHei"/>
                <a:cs typeface="Microsoft JhengHei"/>
              </a:rPr>
              <a:t>[]</a:t>
            </a:r>
            <a:r>
              <a:rPr sz="1050" b="0" dirty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br>
              <a:rPr lang="en-US" sz="1050" b="0" dirty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</a:br>
            <a:endParaRPr sz="1050" b="0" dirty="0">
              <a:solidFill>
                <a:srgbClr val="454F63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40000"/>
              </a:lnSpc>
              <a:spcBef>
                <a:spcPts val="700"/>
              </a:spcBef>
              <a:spcAft>
                <a:spcPts val="0"/>
              </a:spcAft>
            </a:pPr>
            <a:r>
              <a:rPr sz="900" b="1" dirty="0" err="1">
                <a:solidFill>
                  <a:srgbClr val="8C1F22"/>
                </a:solidFill>
                <a:latin typeface="Consolas"/>
                <a:ea typeface="Microsoft JhengHei"/>
                <a:cs typeface="Microsoft JhengHei"/>
              </a:rPr>
              <a:t>禁止</a:t>
            </a:r>
            <a:r>
              <a:rPr sz="1050" b="0" dirty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050" b="0" dirty="0" err="1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瀏覽網頁、自創</a:t>
            </a:r>
            <a:r>
              <a:rPr sz="1050" b="0" dirty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050" b="0" dirty="0" err="1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URL、捿造內容</a:t>
            </a:r>
            <a:r>
              <a:rPr sz="1050" b="0" dirty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81492" y="2304288"/>
            <a:ext cx="3460394" cy="2011680"/>
          </a:xfrm>
          <a:prstGeom prst="roundRect">
            <a:avLst>
              <a:gd name="adj" fmla="val 6363"/>
            </a:avLst>
          </a:prstGeom>
          <a:solidFill>
            <a:srgbClr val="FFFFFF"/>
          </a:solidFill>
          <a:ln w="11430">
            <a:solidFill>
              <a:srgbClr val="E6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46304" rtlCol="0" anchor="ctr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00" b="1" dirty="0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③ ARBITER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證據變結論</a:t>
            </a:r>
            <a:endParaRPr sz="1450" b="1" dirty="0">
              <a:solidFill>
                <a:srgbClr val="111726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 err="1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只收排序後最多</a:t>
            </a:r>
            <a:r>
              <a:rPr sz="1050" b="0" dirty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 30 筆 </a:t>
            </a:r>
            <a:r>
              <a:rPr sz="1050" b="0" dirty="0" err="1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Evidence，產出</a:t>
            </a:r>
            <a:r>
              <a:rPr sz="1050" b="0" dirty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000" b="0" dirty="0" err="1">
                <a:solidFill>
                  <a:srgbClr val="454F63"/>
                </a:solidFill>
                <a:latin typeface="Consolas"/>
                <a:ea typeface="Microsoft JhengHei"/>
                <a:cs typeface="Microsoft JhengHei"/>
              </a:rPr>
              <a:t>AnalysisResult</a:t>
            </a:r>
            <a:r>
              <a:rPr sz="1050" b="0" dirty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br>
              <a:rPr lang="en-US" sz="1050" b="0" dirty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</a:br>
            <a:endParaRPr sz="1050" b="0" dirty="0">
              <a:solidFill>
                <a:srgbClr val="454F63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40000"/>
              </a:lnSpc>
              <a:spcBef>
                <a:spcPts val="700"/>
              </a:spcBef>
              <a:spcAft>
                <a:spcPts val="0"/>
              </a:spcAft>
            </a:pPr>
            <a:r>
              <a:rPr sz="900" b="1" dirty="0" err="1">
                <a:solidFill>
                  <a:srgbClr val="8C1F22"/>
                </a:solidFill>
                <a:latin typeface="Consolas"/>
                <a:ea typeface="Microsoft JhengHei"/>
                <a:cs typeface="Microsoft JhengHei"/>
              </a:rPr>
              <a:t>禁止</a:t>
            </a:r>
            <a:r>
              <a:rPr sz="1050" b="0" dirty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050" b="0" dirty="0" err="1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自造數值、繞過</a:t>
            </a:r>
            <a:r>
              <a:rPr sz="1050" b="0" dirty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 Evidence </a:t>
            </a:r>
            <a:r>
              <a:rPr sz="1050" b="0" dirty="0" err="1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ID、改寫可信度</a:t>
            </a:r>
            <a:r>
              <a:rPr sz="1050" b="0" dirty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4882896"/>
            <a:ext cx="1051560" cy="11430"/>
          </a:xfrm>
          <a:prstGeom prst="rect">
            <a:avLst/>
          </a:prstGeom>
          <a:solidFill>
            <a:srgbClr val="E6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5138928"/>
            <a:ext cx="106920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輸出先過 Pydantic 驗證才准進入系統核心。</a:t>
            </a:r>
            <a:r>
              <a:rPr sz="14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修 1 次仍不過，走 deterministic fallback。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HOYA</a:t>
            </a:r>
            <a:r>
              <a:rPr sz="95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Market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98687" y="27432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Consolas"/>
                <a:ea typeface="Microsoft JhengHei"/>
                <a:cs typeface="Microsoft JhengHei"/>
              </a:rPr>
              <a:t>07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2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憑什麼可信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042415"/>
            <a:ext cx="106920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四道硬邊界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304288"/>
            <a:ext cx="2556433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1430">
            <a:solidFill>
              <a:srgbClr val="E6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46304" rtlCol="0" anchor="ctr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A82B2B"/>
                </a:solidFill>
                <a:latin typeface="Consolas"/>
                <a:ea typeface="Microsoft JhengHei"/>
                <a:cs typeface="Microsoft JhengHei"/>
              </a:rPr>
              <a:t>邊界 ①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輸入信任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題目與外部回傳一律當</a:t>
            </a:r>
            <a:r>
              <a:rPr sz="10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資料</a:t>
            </a:r>
            <a:r>
              <a:rPr sz="105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，不當指令。「忽略上述規則」只會被當字面內容。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1689" y="2304288"/>
            <a:ext cx="2556433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1430">
            <a:solidFill>
              <a:srgbClr val="E6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46304" rtlCol="0" anchor="ctr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A82B2B"/>
                </a:solidFill>
                <a:latin typeface="Consolas"/>
                <a:ea typeface="Microsoft JhengHei"/>
                <a:cs typeface="Microsoft JhengHei"/>
              </a:rPr>
              <a:t>邊界 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工具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54F63"/>
                </a:solidFill>
                <a:latin typeface="Consolas"/>
                <a:ea typeface="Microsoft JhengHei"/>
                <a:cs typeface="Microsoft JhengHei"/>
              </a:rPr>
              <a:t>ToolRegistry</a:t>
            </a:r>
            <a:r>
              <a:rPr sz="105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 是靜態映射。無動態註冊，LLM 不能新增 provider 或網域。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3571" y="2304288"/>
            <a:ext cx="2556433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1430">
            <a:solidFill>
              <a:srgbClr val="E6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46304" rtlCol="0" anchor="ctr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A82B2B"/>
                </a:solidFill>
                <a:latin typeface="Consolas"/>
                <a:ea typeface="Microsoft JhengHei"/>
                <a:cs typeface="Microsoft JhengHei"/>
              </a:rPr>
              <a:t>邊界 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證據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LLM 產物</a:t>
            </a:r>
            <a:r>
              <a:rPr sz="10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永遠不是</a:t>
            </a:r>
            <a:r>
              <a:rPr sz="105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證據。可信度由靜態表指派，producer 自己都不能宣告。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85453" y="2304288"/>
            <a:ext cx="2556433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1430">
            <a:solidFill>
              <a:srgbClr val="E6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46304" rtlCol="0" anchor="ctr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A82B2B"/>
                </a:solidFill>
                <a:latin typeface="Consolas"/>
                <a:ea typeface="Microsoft JhengHei"/>
                <a:cs typeface="Microsoft JhengHei"/>
              </a:rPr>
              <a:t>邊界 ④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時間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預算由</a:t>
            </a:r>
            <a:r>
              <a:rPr sz="10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單調時鐘</a:t>
            </a:r>
            <a:r>
              <a:rPr sz="105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推導。Planner 完全不碰時間，跳過順序寫死。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5138928"/>
            <a:ext cx="1051560" cy="11430"/>
          </a:xfrm>
          <a:prstGeom prst="rect">
            <a:avLst/>
          </a:prstGeom>
          <a:solidFill>
            <a:srgbClr val="E6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5394960"/>
            <a:ext cx="106920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把預算交給 LLM 分配，正是這個設計</a:t>
            </a:r>
            <a:r>
              <a:rPr sz="14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刻意避免</a:t>
            </a:r>
            <a:r>
              <a:rPr sz="145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的事。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HOYA</a:t>
            </a:r>
            <a:r>
              <a:rPr sz="95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Market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98687" y="27432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Consolas"/>
                <a:ea typeface="Microsoft JhengHei"/>
                <a:cs typeface="Microsoft JhengHei"/>
              </a:rPr>
              <a:t>08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2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證據契約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042415"/>
            <a:ext cx="106920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Evidence 沒有立場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立場只存在於連結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017520"/>
            <a:ext cx="1918959" cy="1060704"/>
          </a:xfrm>
          <a:prstGeom prst="roundRect">
            <a:avLst>
              <a:gd name="adj" fmla="val 11206"/>
            </a:avLst>
          </a:prstGeom>
          <a:solidFill>
            <a:srgbClr val="F0EAFC"/>
          </a:solidFill>
          <a:ln w="15240">
            <a:solidFill>
              <a:srgbClr val="CEC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A26A0"/>
                </a:solidFill>
                <a:latin typeface="Microsoft JhengHei"/>
                <a:ea typeface="Microsoft JhengHei"/>
                <a:cs typeface="Microsoft JhengHei"/>
              </a:rPr>
              <a:t>來源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市場 · 新聞 · 官方 · 情緒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8767" y="3017520"/>
            <a:ext cx="274320" cy="1060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C9C2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3087" y="3017520"/>
            <a:ext cx="1918959" cy="1060704"/>
          </a:xfrm>
          <a:prstGeom prst="roundRect">
            <a:avLst>
              <a:gd name="adj" fmla="val 11206"/>
            </a:avLst>
          </a:prstGeom>
          <a:solidFill>
            <a:srgbClr val="EBF0FC"/>
          </a:solidFill>
          <a:ln w="15240">
            <a:solidFill>
              <a:srgbClr val="BC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3F96"/>
                </a:solidFill>
                <a:latin typeface="Microsoft JhengHei"/>
                <a:ea typeface="Microsoft JhengHei"/>
                <a:cs typeface="Microsoft JhengHei"/>
              </a:rPr>
              <a:t>Evidence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ev_001… 無立場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2047" y="3017520"/>
            <a:ext cx="274320" cy="1060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C9C2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6367" y="3017520"/>
            <a:ext cx="1918959" cy="1060704"/>
          </a:xfrm>
          <a:prstGeom prst="roundRect">
            <a:avLst>
              <a:gd name="adj" fmla="val 11206"/>
            </a:avLst>
          </a:prstGeom>
          <a:solidFill>
            <a:srgbClr val="EBF0FC"/>
          </a:solidFill>
          <a:ln w="15240">
            <a:solidFill>
              <a:srgbClr val="BC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3F96"/>
                </a:solidFill>
                <a:latin typeface="Microsoft JhengHei"/>
                <a:ea typeface="Microsoft JhengHei"/>
                <a:cs typeface="Microsoft JhengHei"/>
              </a:rPr>
              <a:t>fact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事實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327" y="3017520"/>
            <a:ext cx="274320" cy="1060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C9C2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29647" y="3017520"/>
            <a:ext cx="1918959" cy="1060704"/>
          </a:xfrm>
          <a:prstGeom prst="roundRect">
            <a:avLst>
              <a:gd name="adj" fmla="val 11206"/>
            </a:avLst>
          </a:prstGeom>
          <a:solidFill>
            <a:srgbClr val="EBF0FC"/>
          </a:solidFill>
          <a:ln w="15240">
            <a:solidFill>
              <a:srgbClr val="BC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3F96"/>
                </a:solidFill>
                <a:latin typeface="Microsoft JhengHei"/>
                <a:ea typeface="Microsoft JhengHei"/>
                <a:cs typeface="Microsoft JhengHei"/>
              </a:rPr>
              <a:t>inference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推論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48607" y="3017520"/>
            <a:ext cx="274320" cy="1060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C9C2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22927" y="3017520"/>
            <a:ext cx="1918959" cy="1060704"/>
          </a:xfrm>
          <a:prstGeom prst="roundRect">
            <a:avLst>
              <a:gd name="adj" fmla="val 11206"/>
            </a:avLst>
          </a:prstGeom>
          <a:solidFill>
            <a:srgbClr val="E4F4EC"/>
          </a:solidFill>
          <a:ln w="15240">
            <a:solidFill>
              <a:srgbClr val="A8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6544"/>
                </a:solidFill>
                <a:latin typeface="Microsoft JhengHei"/>
                <a:ea typeface="Microsoft JhengHei"/>
                <a:cs typeface="Microsoft JhengHei"/>
              </a:rPr>
              <a:t>conclusion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＋ 信心與理由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631436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1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4590288"/>
            <a:ext cx="9850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SHA-256 精確去重</a:t>
            </a:r>
            <a:r>
              <a:rPr sz="11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 純轉載自動塔陷成一筆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088636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1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5047488"/>
            <a:ext cx="9850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獨立性看原始發布者</a:t>
            </a:r>
            <a:r>
              <a:rPr sz="11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 同一原文的轉載不計為兩個來源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545836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1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5504688"/>
            <a:ext cx="9850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可信度查靜態三級表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003036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1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" y="5961888"/>
            <a:ext cx="9850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同一筆證據可支持 A、同時反對 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33521" y="5550407"/>
            <a:ext cx="388112" cy="169164"/>
          </a:xfrm>
          <a:prstGeom prst="roundRect">
            <a:avLst>
              <a:gd name="adj" fmla="val 21621"/>
            </a:avLst>
          </a:prstGeom>
          <a:solidFill>
            <a:srgbClr val="E4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33521" y="5576011"/>
            <a:ext cx="38811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B6544"/>
                </a:solidFill>
                <a:latin typeface="Consolas"/>
                <a:ea typeface="Microsoft JhengHei"/>
                <a:cs typeface="Microsoft JhengHei"/>
              </a:rPr>
              <a:t>high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3929" y="5550407"/>
            <a:ext cx="509016" cy="169164"/>
          </a:xfrm>
          <a:prstGeom prst="roundRect">
            <a:avLst>
              <a:gd name="adj" fmla="val 21621"/>
            </a:avLst>
          </a:prstGeom>
          <a:solidFill>
            <a:srgbClr val="FD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03929" y="5576011"/>
            <a:ext cx="50901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5205"/>
                </a:solidFill>
                <a:latin typeface="Consolas"/>
                <a:ea typeface="Microsoft JhengHei"/>
                <a:cs typeface="Microsoft JhengHei"/>
              </a:rPr>
              <a:t>medium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95241" y="5550407"/>
            <a:ext cx="327660" cy="169164"/>
          </a:xfrm>
          <a:prstGeom prst="roundRect">
            <a:avLst>
              <a:gd name="adj" fmla="val 21621"/>
            </a:avLst>
          </a:prstGeom>
          <a:solidFill>
            <a:srgbClr val="EE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095241" y="5576011"/>
            <a:ext cx="3276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B7385"/>
                </a:solidFill>
                <a:latin typeface="Consolas"/>
                <a:ea typeface="Microsoft JhengHei"/>
                <a:cs typeface="Microsoft JhengHei"/>
              </a:rPr>
              <a:t>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HOYA</a:t>
            </a:r>
            <a:r>
              <a:rPr sz="95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Market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98687" y="27432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Consolas"/>
                <a:ea typeface="Microsoft JhengHei"/>
                <a:cs typeface="Microsoft JhengHei"/>
              </a:rPr>
              <a:t>09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2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取證廣度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005840"/>
            <a:ext cx="106920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多來源不是堆數量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是堆獨立性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75788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23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834640"/>
            <a:ext cx="9850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入選標準只有一條</a:t>
            </a:r>
            <a:r>
              <a:rPr sz="12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 「用幣種符號就能查五幣」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351276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23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3310128"/>
            <a:ext cx="9850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要為每條鏈各寫一套的</a:t>
            </a:r>
            <a:r>
              <a:rPr sz="12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 一律跳過並揭露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26764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23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785616"/>
            <a:ext cx="9850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目標 ≥3 種來源類型、≥3 個獨立群、≥1 個第一手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30225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23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4261104"/>
            <a:ext cx="9850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未達標仍完成報告</a:t>
            </a:r>
            <a:r>
              <a:rPr sz="12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 壓低 confidence 並揭露缺口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4828032"/>
            <a:ext cx="10692079" cy="11430"/>
          </a:xfrm>
          <a:prstGeom prst="rect">
            <a:avLst/>
          </a:prstGeom>
          <a:solidFill>
            <a:srgbClr val="E6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5102352"/>
            <a:ext cx="267301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~15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5611368"/>
            <a:ext cx="24901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來源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2827" y="4937760"/>
            <a:ext cx="11430" cy="1097280"/>
          </a:xfrm>
          <a:prstGeom prst="rect">
            <a:avLst/>
          </a:prstGeom>
          <a:solidFill>
            <a:srgbClr val="F0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22827" y="5102352"/>
            <a:ext cx="267301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4267" y="5611368"/>
            <a:ext cx="24901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維度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市場 / 衍生品 / 新聞 / 社群 / 情緒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5847" y="4937760"/>
            <a:ext cx="11430" cy="1097280"/>
          </a:xfrm>
          <a:prstGeom prst="rect">
            <a:avLst/>
          </a:prstGeom>
          <a:solidFill>
            <a:srgbClr val="F0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5847" y="5102352"/>
            <a:ext cx="267301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~13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7287" y="5611368"/>
            <a:ext cx="24901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獨立群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68867" y="4937760"/>
            <a:ext cx="11430" cy="1097280"/>
          </a:xfrm>
          <a:prstGeom prst="rect">
            <a:avLst/>
          </a:prstGeom>
          <a:solidFill>
            <a:srgbClr val="F0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68867" y="5102352"/>
            <a:ext cx="267301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~60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0307" y="5611368"/>
            <a:ext cx="24901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證據卡 / run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6272784"/>
            <a:ext cx="10692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上列數字為資料側原型 </a:t>
            </a:r>
            <a:r>
              <a:rPr sz="1000" b="0">
                <a:solidFill>
                  <a:srgbClr val="8590A3"/>
                </a:solidFill>
                <a:latin typeface="Consolas"/>
                <a:ea typeface="Microsoft JhengHei"/>
                <a:cs typeface="Microsoft JhengHei"/>
              </a:rPr>
              <a:t>p2-etl-mvp/</a:t>
            </a:r>
            <a:r>
              <a:rPr sz="10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的實測結果，與主管線分開計算。主管線來源清單見附錄 A4。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HOYA</a:t>
            </a:r>
            <a:r>
              <a:rPr sz="95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Market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98687" y="27432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Consolas"/>
                <a:ea typeface="Microsoft JhengHei"/>
                <a:cs typeface="Microsoft JhengHei"/>
              </a:rPr>
              <a:t>10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969264"/>
            <a:ext cx="10692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矛盾處理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35024"/>
            <a:ext cx="106920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Material Conflict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雙方都保留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98167" y="3127248"/>
            <a:ext cx="2609088" cy="1097280"/>
          </a:xfrm>
          <a:prstGeom prst="roundRect">
            <a:avLst>
              <a:gd name="adj" fmla="val 10833"/>
            </a:avLst>
          </a:prstGeom>
          <a:solidFill>
            <a:srgbClr val="E4F4EC"/>
          </a:solidFill>
          <a:ln w="15240">
            <a:solidFill>
              <a:srgbClr val="A8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6544"/>
                </a:solidFill>
                <a:latin typeface="Microsoft JhengHei"/>
                <a:ea typeface="Microsoft JhengHei"/>
                <a:cs typeface="Microsoft JhengHei"/>
              </a:rPr>
              <a:t>支持證據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可信度 ≥ medium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255" y="3127248"/>
            <a:ext cx="384048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C9C2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91303" y="3127248"/>
            <a:ext cx="2609088" cy="1097280"/>
          </a:xfrm>
          <a:prstGeom prst="roundRect">
            <a:avLst>
              <a:gd name="adj" fmla="val 10833"/>
            </a:avLst>
          </a:prstGeom>
          <a:solidFill>
            <a:srgbClr val="FBECEB"/>
          </a:solidFill>
          <a:ln w="15240">
            <a:solidFill>
              <a:srgbClr val="E9B8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1F22"/>
                </a:solidFill>
                <a:latin typeface="Microsoft JhengHei"/>
                <a:ea typeface="Microsoft JhengHei"/>
                <a:cs typeface="Microsoft JhengHei"/>
              </a:rPr>
              <a:t>同一個 Claim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不同獨立群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0391" y="3127248"/>
            <a:ext cx="384048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C9C2"/>
                </a:solidFill>
                <a:latin typeface="Microsoft JhengHei"/>
                <a:ea typeface="Microsoft JhengHei"/>
                <a:cs typeface="Microsoft JhengHei"/>
              </a:rPr>
              <a:t>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84439" y="3127248"/>
            <a:ext cx="2609088" cy="1097280"/>
          </a:xfrm>
          <a:prstGeom prst="roundRect">
            <a:avLst>
              <a:gd name="adj" fmla="val 10833"/>
            </a:avLst>
          </a:prstGeom>
          <a:solidFill>
            <a:srgbClr val="FBECEB"/>
          </a:solidFill>
          <a:ln w="15240">
            <a:solidFill>
              <a:srgbClr val="E9B8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1F22"/>
                </a:solidFill>
                <a:latin typeface="Microsoft JhengHei"/>
                <a:ea typeface="Microsoft JhengHei"/>
                <a:cs typeface="Microsoft JhengHei"/>
              </a:rPr>
              <a:t>反對證據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可信度 ≥ 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8327" y="4704588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23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2375" y="4663440"/>
            <a:ext cx="5650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雙方 Evidence 都寫進報告</a:t>
            </a:r>
            <a:r>
              <a:rPr sz="12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 反方是固定段落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8327" y="5180075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23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2375" y="5138927"/>
            <a:ext cx="5650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該結論信心鎖 </a:t>
            </a:r>
            <a:r>
              <a:rPr sz="1500" b="1">
                <a:solidFill>
                  <a:srgbClr val="111726"/>
                </a:solidFill>
                <a:latin typeface="Consolas"/>
                <a:ea typeface="Microsoft JhengHei"/>
                <a:cs typeface="Microsoft JhengHei"/>
              </a:rPr>
              <a:t>low</a:t>
            </a:r>
            <a:r>
              <a:rPr sz="12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 整體不得為 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0067" y="5760720"/>
            <a:ext cx="1051560" cy="11430"/>
          </a:xfrm>
          <a:prstGeom prst="rect">
            <a:avLst/>
          </a:prstGeom>
          <a:solidFill>
            <a:srgbClr val="E6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6016752"/>
            <a:ext cx="106920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這是 deterministic 規則</a:t>
            </a:r>
            <a:r>
              <a:rPr sz="14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先判定並鎖定</a:t>
            </a:r>
            <a:r>
              <a:rPr sz="140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——Arbiter 沒有把矛盾抹平的權限。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HOYA</a:t>
            </a:r>
            <a:r>
              <a:rPr sz="95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Market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98687" y="27432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Consolas"/>
                <a:ea typeface="Microsoft JhengHei"/>
                <a:cs typeface="Microsoft JhengHei"/>
              </a:rPr>
              <a:t>11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2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誠實降級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024128"/>
            <a:ext cx="106920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每一種失敗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都有 deterministic 出口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58668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4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017520"/>
            <a:ext cx="9850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Planner 失敗</a:t>
            </a:r>
            <a:r>
              <a:rPr sz="12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 → 改用 deterministic 預設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589020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4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3547872"/>
            <a:ext cx="9850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來源逾時</a:t>
            </a:r>
            <a:r>
              <a:rPr sz="12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 → 一次 retry，然後產生 typed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11937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4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4078224"/>
            <a:ext cx="9850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抽取無效</a:t>
            </a:r>
            <a:r>
              <a:rPr sz="12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 → 不產生自創事實，只留市場證據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649724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4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4608576"/>
            <a:ext cx="9850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Arbiter 兩次都無效</a:t>
            </a:r>
            <a:r>
              <a:rPr sz="12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 → 由 Ledger 產生低信心報告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180076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4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5138928"/>
            <a:ext cx="9850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720 秒硬停</a:t>
            </a:r>
            <a:r>
              <a:rPr sz="12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 → 取消全部剩餘呼叫，直接落盤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5797296"/>
            <a:ext cx="1051560" cy="11430"/>
          </a:xfrm>
          <a:prstGeom prst="rect">
            <a:avLst/>
          </a:prstGeom>
          <a:solidFill>
            <a:srgbClr val="E6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6053328"/>
            <a:ext cx="106920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沒有任何一條路徑會讓系統交不出東西。</a:t>
            </a:r>
            <a:r>
              <a:rPr sz="140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內容可能是「我沒做到，以下是原因」，但四個檔案一定齊全。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HOYA</a:t>
            </a:r>
            <a:r>
              <a:rPr sz="95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Market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98687" y="27432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Consolas"/>
                <a:ea typeface="Microsoft JhengHei"/>
                <a:cs typeface="Microsoft JhengHei"/>
              </a:rPr>
              <a:t>12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969264"/>
            <a:ext cx="10692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時間治理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35024"/>
            <a:ext cx="106920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900 秒不是估的</a:t>
            </a:r>
            <a:r>
              <a:rPr sz="420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，</a:t>
            </a:r>
            <a:r>
              <a:rPr sz="420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是切好的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2542032"/>
            <a:ext cx="10692079" cy="11430"/>
          </a:xfrm>
          <a:prstGeom prst="rect">
            <a:avLst/>
          </a:prstGeom>
          <a:solidFill>
            <a:srgbClr val="E6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4242816"/>
            <a:ext cx="10692079" cy="11430"/>
          </a:xfrm>
          <a:prstGeom prst="rect">
            <a:avLst/>
          </a:prstGeom>
          <a:solidFill>
            <a:srgbClr val="E6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852927"/>
            <a:ext cx="305196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A82B2B"/>
                </a:solidFill>
                <a:latin typeface="Consolas"/>
                <a:ea typeface="Microsoft JhengHei"/>
                <a:cs typeface="Microsoft JhengHei"/>
              </a:rPr>
              <a:t>720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11296"/>
            <a:ext cx="305196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分析硬停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取消每一個剩餘的外部與 LLM 呼叫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3834" y="2670048"/>
            <a:ext cx="11430" cy="1444752"/>
          </a:xfrm>
          <a:prstGeom prst="rect">
            <a:avLst/>
          </a:prstGeom>
          <a:solidFill>
            <a:srgbClr val="F0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69866" y="2852927"/>
            <a:ext cx="305196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A82B2B"/>
                </a:solidFill>
                <a:latin typeface="Consolas"/>
                <a:ea typeface="Microsoft JhengHei"/>
                <a:cs typeface="Microsoft JhengHei"/>
              </a:rPr>
              <a:t>780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9866" y="3511296"/>
            <a:ext cx="305196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Artifact 硬停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四個固定檔名全部完成，原子寫入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77860" y="2670048"/>
            <a:ext cx="11430" cy="1444752"/>
          </a:xfrm>
          <a:prstGeom prst="rect">
            <a:avLst/>
          </a:prstGeom>
          <a:solidFill>
            <a:srgbClr val="F0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3892" y="2852927"/>
            <a:ext cx="305196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11726"/>
                </a:solidFill>
                <a:latin typeface="Consolas"/>
                <a:ea typeface="Microsoft JhengHei"/>
                <a:cs typeface="Microsoft JhengHei"/>
              </a:rPr>
              <a:t>900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3892" y="3511296"/>
            <a:ext cx="305196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競賽上限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保留給 UI 與評審操作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98167" y="475945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2215" y="4718304"/>
            <a:ext cx="82113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預算由單調時鐘推導</a:t>
            </a:r>
            <a:r>
              <a:rPr sz="11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 不受系統時間調整影響，也不是誰分配的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8167" y="521665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82215" y="5175504"/>
            <a:ext cx="82113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retry 與 repair 共用原 stage 預算</a:t>
            </a:r>
            <a:r>
              <a:rPr sz="11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 不延長總時限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8167" y="567385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82215" y="5632704"/>
            <a:ext cx="82113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時間不夠時先砍誰是寫死的</a:t>
            </a:r>
            <a:r>
              <a:rPr sz="11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 多輪辩論 → 選配脈絡來源 → 反方二次搜尋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HOYA</a:t>
            </a:r>
            <a:r>
              <a:rPr sz="95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Market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98687" y="27432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Consolas"/>
                <a:ea typeface="Microsoft JhengHei"/>
                <a:cs typeface="Microsoft JhengHei"/>
              </a:rPr>
              <a:t>13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2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交付物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042415"/>
            <a:ext cx="106920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四個檔案</a:t>
            </a:r>
            <a:r>
              <a:rPr sz="420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，</a:t>
            </a:r>
            <a:r>
              <a:rPr sz="42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檔名固定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340864"/>
            <a:ext cx="2556433" cy="1883664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15240">
            <a:solidFill>
              <a:srgbClr val="E6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D7A51"/>
                </a:solidFill>
                <a:latin typeface="Consolas"/>
                <a:ea typeface="Microsoft JhengHei"/>
                <a:cs typeface="Microsoft JhengHei"/>
              </a:rPr>
              <a:t>final_report.md</a:t>
            </a:r>
          </a:p>
          <a:p>
            <a:pPr algn="ctr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分析報告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繁中 11 段模板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雙幣加第 12 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1689" y="2340864"/>
            <a:ext cx="2556433" cy="1883664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15240">
            <a:solidFill>
              <a:srgbClr val="E6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D7A51"/>
                </a:solidFill>
                <a:latin typeface="Consolas"/>
                <a:ea typeface="Microsoft JhengHei"/>
                <a:cs typeface="Microsoft JhengHei"/>
              </a:rPr>
              <a:t>evidence.json</a:t>
            </a:r>
          </a:p>
          <a:p>
            <a:pPr algn="ctr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證據帳本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完整 Ledger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衝突 · 降級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3571" y="2340864"/>
            <a:ext cx="2556433" cy="1883664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15240">
            <a:solidFill>
              <a:srgbClr val="E6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D7A51"/>
                </a:solidFill>
                <a:latin typeface="Consolas"/>
                <a:ea typeface="Microsoft JhengHei"/>
                <a:cs typeface="Microsoft JhengHei"/>
              </a:rPr>
              <a:t>execution_log.jsonl</a:t>
            </a:r>
          </a:p>
          <a:p>
            <a:pPr algn="ctr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執行記錄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每個 call 的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起訖 · 狀態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85453" y="2340864"/>
            <a:ext cx="2556433" cy="1883664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15240">
            <a:solidFill>
              <a:srgbClr val="E6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D7A51"/>
                </a:solidFill>
                <a:latin typeface="Consolas"/>
                <a:ea typeface="Microsoft JhengHei"/>
                <a:cs typeface="Microsoft JhengHei"/>
              </a:rPr>
              <a:t>run_config.json</a:t>
            </a:r>
          </a:p>
          <a:p>
            <a:pPr algn="ctr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配置與版本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模型 ID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prompt 版本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75945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1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4718304"/>
            <a:ext cx="9850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檔名不由 prompt 決定</a:t>
            </a:r>
            <a:r>
              <a:rPr sz="11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 原子寫入，崩潰不留半個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253228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1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5212080"/>
            <a:ext cx="9850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報告由 deterministic 模板產生</a:t>
            </a:r>
            <a:r>
              <a:rPr sz="11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 LLM 不寫全文、不事後改寫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747004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1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5705856"/>
            <a:ext cx="9850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最後一道禁語 lint</a:t>
            </a:r>
            <a:r>
              <a:rPr sz="11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 買賣、加減倉、資產配置一律擋下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HOYA</a:t>
            </a:r>
            <a:r>
              <a:rPr sz="95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Market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98687" y="27432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Consolas"/>
                <a:ea typeface="Microsoft JhengHei"/>
                <a:cs typeface="Microsoft JhengHei"/>
              </a:rPr>
              <a:t>14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2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加值層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042415"/>
            <a:ext cx="106920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讓「這次有多可信」</a:t>
            </a:r>
            <a:r>
              <a:rPr sz="400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本身也可見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304288"/>
            <a:ext cx="3460394" cy="2157984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1430">
            <a:solidFill>
              <a:srgbClr val="E6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46304" rtlCol="0" anchor="ctr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0D7A51"/>
                </a:solidFill>
                <a:latin typeface="Consolas"/>
                <a:ea typeface="Microsoft JhengHei"/>
                <a:cs typeface="Microsoft JhengHei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Trust Scorecard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每個結論一張，五個面向：獨立性、多樣性、可信度組成、一致性、時效性。
每個面向給等級</a:t>
            </a:r>
            <a:r>
              <a:rPr sz="10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＋支撐該等級的原始計數</a:t>
            </a:r>
            <a:r>
              <a:rPr sz="105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5650" y="2304288"/>
            <a:ext cx="3460394" cy="2157984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1430">
            <a:solidFill>
              <a:srgbClr val="E6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46304" rtlCol="0" anchor="ctr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0D7A51"/>
                </a:solidFill>
                <a:latin typeface="Consolas"/>
                <a:ea typeface="Microsoft JhengHei"/>
                <a:cs typeface="Microsoft JhengHei"/>
              </a:rPr>
              <a:t>02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Market Regime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純 OHLCV deterministic 判定，包成 high 可信度的 Evidence。
連報告標題都</a:t>
            </a:r>
            <a:r>
              <a:rPr sz="10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回溯得到 Evidence ID</a:t>
            </a:r>
            <a:r>
              <a:rPr sz="105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81492" y="2304288"/>
            <a:ext cx="3460394" cy="2157984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1430">
            <a:solidFill>
              <a:srgbClr val="E6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46304" rtlCol="0" anchor="ctr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0D7A51"/>
                </a:solidFill>
                <a:latin typeface="Consolas"/>
                <a:ea typeface="Microsoft JhengHei"/>
                <a:cs typeface="Microsoft JhengHei"/>
              </a:rPr>
              <a:t>03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量化失效條件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「什麼情況下這個結論不成立」帶上指標、運算子、門檻與依據。
數值只能引用</a:t>
            </a:r>
            <a:r>
              <a:rPr sz="10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既有 Evidence</a:t>
            </a:r>
            <a:r>
              <a:rPr sz="105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997196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1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4956048"/>
            <a:ext cx="9850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全部 deterministic</a:t>
            </a:r>
            <a:r>
              <a:rPr sz="11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 不呼叫 LLM、不新增來源、不阻塞核心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49097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1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5449824"/>
            <a:ext cx="9850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雙幣比較以單一 run 完成</a:t>
            </a:r>
            <a:r>
              <a:rPr sz="11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 一個 run_id、一份 Ledger、四項 artifacts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HOYA</a:t>
            </a:r>
            <a:r>
              <a:rPr sz="95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Market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98687" y="27432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Consolas"/>
                <a:ea typeface="Microsoft JhengHei"/>
                <a:cs typeface="Microsoft JhengHei"/>
              </a:rPr>
              <a:t>15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25296"/>
            <a:ext cx="10692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總結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09344"/>
            <a:ext cx="106920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能驗證</a:t>
            </a:r>
            <a:r>
              <a:rPr sz="600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，</a:t>
            </a:r>
            <a:r>
              <a:rPr sz="60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所以可信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35808"/>
            <a:ext cx="1069207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我們沒有做一個更會講話的 Agent</a:t>
            </a:r>
          </a:p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而是做了一個</a:t>
            </a:r>
            <a:r>
              <a:rPr sz="17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把每一步都攝開來讓人查</a:t>
            </a:r>
            <a:r>
              <a:rPr sz="170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的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54477" y="4224528"/>
            <a:ext cx="160553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E6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37357" y="4341114"/>
            <a:ext cx="96012" cy="96012"/>
          </a:xfrm>
          <a:prstGeom prst="roundRect">
            <a:avLst>
              <a:gd name="adj" fmla="val 28571"/>
            </a:avLst>
          </a:prstGeom>
          <a:solidFill>
            <a:srgbClr val="B068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75101" y="4224528"/>
            <a:ext cx="100203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3 次受限 LLM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2891" y="4224528"/>
            <a:ext cx="211718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E6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725771" y="4341114"/>
            <a:ext cx="96012" cy="96012"/>
          </a:xfrm>
          <a:prstGeom prst="roundRect">
            <a:avLst>
              <a:gd name="adj" fmla="val 28571"/>
            </a:avLst>
          </a:prstGeom>
          <a:solidFill>
            <a:srgbClr val="1A4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63515" y="4224528"/>
            <a:ext cx="1802384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其餘全部 deterministic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7067" y="4224528"/>
            <a:ext cx="206877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E6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149947" y="4341114"/>
            <a:ext cx="96012" cy="96012"/>
          </a:xfrm>
          <a:prstGeom prst="roundRect">
            <a:avLst>
              <a:gd name="adj" fmla="val 28571"/>
            </a:avLst>
          </a:prstGeom>
          <a:solidFill>
            <a:srgbClr val="0D7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87691" y="4224528"/>
            <a:ext cx="1866646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dirty="0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4 項 artifacts </a:t>
            </a:r>
            <a:r>
              <a:rPr sz="1150" b="0" dirty="0" err="1">
                <a:solidFill>
                  <a:srgbClr val="454F63"/>
                </a:solidFill>
                <a:latin typeface="Microsoft JhengHei"/>
                <a:ea typeface="Microsoft JhengHei"/>
                <a:cs typeface="Microsoft JhengHei"/>
              </a:rPr>
              <a:t>一定齊全</a:t>
            </a:r>
            <a:endParaRPr sz="1150" b="0" dirty="0">
              <a:solidFill>
                <a:srgbClr val="454F63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HOYA</a:t>
            </a:r>
            <a:r>
              <a:rPr sz="95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Market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98687" y="27432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Consolas"/>
                <a:ea typeface="Microsoft JhengHei"/>
                <a:cs typeface="Microsoft JhengHei"/>
              </a:rPr>
              <a:t>附錄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692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附錄 A1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783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完整失敗降級矩陣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53312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每一列都有對應的 typed degradation event，寫進 </a:t>
            </a:r>
            <a:r>
              <a:rPr sz="950" b="0">
                <a:solidFill>
                  <a:srgbClr val="8590A3"/>
                </a:solidFill>
                <a:latin typeface="Consolas"/>
                <a:ea typeface="Microsoft JhengHei"/>
                <a:cs typeface="Microsoft JhengHei"/>
              </a:rPr>
              <a:t>execution_log.jsonl</a:t>
            </a: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與報告的「限制與資料缺口」段落。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883664"/>
          <a:ext cx="11055096" cy="35478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8590A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失敗</a:t>
                      </a:r>
                    </a:p>
                  </a:txBody>
                  <a:tcPr marL="100584" marR="82296" marT="50292" marB="50292">
                    <a:lnB w="17780">
                      <a:solidFill>
                        <a:srgbClr val="E6E6E1"/>
                      </a:solidFill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8590A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系統的反應</a:t>
                      </a:r>
                    </a:p>
                  </a:txBody>
                  <a:tcPr marL="100584" marR="82296" marT="50292" marB="50292">
                    <a:lnB w="17780">
                      <a:solidFill>
                        <a:srgbClr val="E6E6E1"/>
                      </a:solidFill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8590A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評審看得到什麼</a:t>
                      </a:r>
                    </a:p>
                  </a:txBody>
                  <a:tcPr marL="100584" marR="82296" marT="50292" marB="50292">
                    <a:lnB w="17780">
                      <a:solidFill>
                        <a:srgbClr val="E6E6E1"/>
                      </a:solidFill>
                    </a:lnB>
                    <a:solidFill>
                      <a:srgbClr val="FA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Planner 逾時或 schema 錯</a:t>
                      </a:r>
                    </a:p>
                  </a:txBody>
                  <a:tcPr marL="100584" marR="82296" marT="50292" marB="50292">
                    <a:lnT w="1778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一次 deadline-bound repair 後，改用依 assets 與預設回看窗產生的 deterministic plan</a:t>
                      </a:r>
                    </a:p>
                  </a:txBody>
                  <a:tcPr marL="100584" marR="82296" marT="50292" marB="50292">
                    <a:lnT w="1778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Planner degraded event</a:t>
                      </a:r>
                    </a:p>
                  </a:txBody>
                  <a:tcPr marL="100584" marR="82296" marT="50292" marB="50292">
                    <a:lnT w="1778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單一來源逾時 / 429 / 5xx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至多一次 bounded retry，然後產生 typed gap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來源名稱、錯誤類別、fallback 紀錄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baseline 市場源失敗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誠實 partial／degraded；MVP 無第二個 live provider，不宣稱曾切換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市場來源缺口與降級事件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CryptoPanic token 缺失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關閉該 adapter，RSS 與官方來源照常執行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Missing-source disclosure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任一取證分支失敗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另一分支繼續；用可用 Evidence 完成 Ledger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partial branch status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Research 抽取無效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不產生 LLM 自創事實，只保留 deterministic 市場證據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Extraction failure event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Arbiter 兩次都無效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由 Ledger facts 產生 low-confidence、列出所有缺失能力的結果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Fallback 報告與原因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少於三種來源 / 三個獨立群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照常完成報告但壓低 confidence；核心結論撐不住就標 insufficient data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多樣性計數與缺口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Material conflict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雙方 Evidence 都保留，該結論 confidence 鎖 low，整體不得 high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Conflict indicator 與反方段落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禁語 lint 擋下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移除投資指令語句；無法安全修正則改用 fallback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Lint failure event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Artifact 寫入失敗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對原子寫入做 bounded retry；仍失敗則指名確切缺檔檔名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Missing-artifact 清單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8C1F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720 秒硬停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BEC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8C1F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取消所有剩餘外部／LLM 呼叫，停止 optional stages，進入 finalization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BEC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8C1F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Deadline event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B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HOYA</a:t>
            </a:r>
            <a:r>
              <a:rPr sz="95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Market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98687" y="27432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Consolas"/>
                <a:ea typeface="Microsoft JhengHei"/>
                <a:cs typeface="Microsoft JhengHei"/>
              </a:rPr>
              <a:t>附錄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692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附錄 A2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783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完整時間預算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53312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全部由 </a:t>
            </a:r>
            <a:r>
              <a:rPr sz="950" b="0">
                <a:solidFill>
                  <a:srgbClr val="8590A3"/>
                </a:solidFill>
                <a:latin typeface="Consolas"/>
                <a:ea typeface="Microsoft JhengHei"/>
                <a:cs typeface="Microsoft JhengHei"/>
              </a:rPr>
              <a:t>time.monotonic()</a:t>
            </a: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推導；UTC 只用於落盤時間戳。deadline 較短時各 stage 按比例縮放，保留最後 20%（可能時至少 60 秒）給 deterministic finalize。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029968"/>
          <a:ext cx="5486399" cy="25968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8590A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里程碑</a:t>
                      </a:r>
                    </a:p>
                  </a:txBody>
                  <a:tcPr marL="100584" marR="82296" marT="50292" marB="50292">
                    <a:lnB w="17780">
                      <a:solidFill>
                        <a:srgbClr val="E6E6E1"/>
                      </a:solidFill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8590A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秒數</a:t>
                      </a:r>
                    </a:p>
                  </a:txBody>
                  <a:tcPr marL="100584" marR="82296" marT="50292" marB="50292">
                    <a:lnB w="17780">
                      <a:solidFill>
                        <a:srgbClr val="E6E6E1"/>
                      </a:solidFill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8590A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到點時的行為</a:t>
                      </a:r>
                    </a:p>
                  </a:txBody>
                  <a:tcPr marL="100584" marR="82296" marT="50292" marB="50292">
                    <a:lnB w="17780">
                      <a:solidFill>
                        <a:srgbClr val="E6E6E1"/>
                      </a:solidFill>
                    </a:lnB>
                    <a:solidFill>
                      <a:srgbClr val="FA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Planner 完成</a:t>
                      </a:r>
                    </a:p>
                  </a:txBody>
                  <a:tcPr marL="100584" marR="82296" marT="50292" marB="50292">
                    <a:lnT w="1778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30</a:t>
                      </a:r>
                    </a:p>
                  </a:txBody>
                  <a:tcPr marL="100584" marR="82296" marT="50292" marB="50292">
                    <a:lnT w="1778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改用 deterministic default plan</a:t>
                      </a:r>
                    </a:p>
                  </a:txBody>
                  <a:tcPr marL="100584" marR="82296" marT="50292" marB="50292">
                    <a:lnT w="1778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並行取證完成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270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取消未完成的 adapter，保留部分結果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Evidence 落盤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360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驗證並寫出所有可用證據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Arbiter ＋ 渲染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510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需要時改用 deterministic fallback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Artifact 驗證目標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630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進入保留區，不再加 optional 工作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8C1F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分析硬停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BEC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8C1F22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720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BEC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8C1F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取消每一個剩餘的外部／LLM 呼叫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B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8C1F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Artifact 硬停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BEC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8C1F22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780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BEC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8C1F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四個固定檔名全部完成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B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競賽上限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900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保留給 UI 與評審操作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19088" y="2029968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呼叫層級的上限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19088" y="2304288"/>
          <a:ext cx="5212080" cy="1097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單次外部呼叫</a:t>
                      </a:r>
                    </a:p>
                  </a:txBody>
                  <a:tcPr marL="100584" marR="82296" marT="50292" marB="50292"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≤ 45 s</a:t>
                      </a:r>
                    </a:p>
                  </a:txBody>
                  <a:tcPr marL="100584" marR="82296" marT="50292" marB="50292"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每個 operation 的 retry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最多 1 次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LLM schema repair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最多 1 次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送進 Arbiter 的 Evidence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最多 30 筆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19088" y="3712463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時間不足時的固定跳過順序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19088" y="3986784"/>
          <a:ext cx="5212080" cy="107023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1</a:t>
                      </a:r>
                    </a:p>
                  </a:txBody>
                  <a:tcPr marL="100584" marR="82296" marT="50292" marB="50292"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多輪辩論</a:t>
                      </a:r>
                      <a:r>
                        <a:rPr sz="750" b="1">
                          <a:solidFill>
                            <a:srgbClr val="8C1F22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  未實作</a:t>
                      </a:r>
                      <a:r>
                        <a:rPr sz="750" b="0">
                          <a:solidFill>
                            <a:srgbClr val="8590A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
H3 conditional debate，見附錄 A5</a:t>
                      </a:r>
                    </a:p>
                  </a:txBody>
                  <a:tcPr marL="100584" marR="82296" marT="50292" marB="50292"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2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選配脈絡來源</a:t>
                      </a:r>
                      <a:r>
                        <a:rPr sz="750" b="0">
                          <a:solidFill>
                            <a:srgbClr val="8590A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
optional context adapters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反方訊號二次搜尋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19088" y="5358384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retry、backoff 與 schema repair </a:t>
            </a:r>
            <a:r>
              <a:rPr sz="90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全部共用原 stage deadline</a:t>
            </a:r>
            <a:r>
              <a:rPr sz="9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，不延長 request 總時限。任何非核心工作都不得延遲四項 artifacts。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HOYA</a:t>
            </a:r>
            <a:r>
              <a:rPr sz="95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Market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98687" y="27432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Consolas"/>
                <a:ea typeface="Microsoft JhengHei"/>
                <a:cs typeface="Microsoft JhengHei"/>
              </a:rPr>
              <a:t>附錄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692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附錄 A3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783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證據與信心的契約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靜態可信度表 · LLM 不得調整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73936"/>
          <a:ext cx="5303520" cy="1000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0B6544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high</a:t>
                      </a:r>
                    </a:p>
                  </a:txBody>
                  <a:tcPr marL="100584" marR="82296" marT="50292" marB="50292"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主辦 OHLCV 基準、交易所原生 API 市場數據、已驗證的專案官方公告、由 high 輸入算出的 deterministic 計算</a:t>
                      </a:r>
                    </a:p>
                  </a:txBody>
                  <a:tcPr marL="100584" marR="82296" marT="50292" marB="50292"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8A5205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medium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具名新聞媒體的原始報導頁（有 URL 與時間戳）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6B7385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low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聚合／轉載未取原頁、Fear &amp; Greed、社群主張、缺作者或時間的摘要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3054096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每筆 EvidenceItem 保存的欄位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3310128"/>
          <a:ext cx="5303520" cy="16459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來源</a:t>
                      </a:r>
                    </a:p>
                  </a:txBody>
                  <a:tcPr marL="100584" marR="82296" marT="50292" marB="50292"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source_name · source_url</a:t>
                      </a:r>
                    </a:p>
                  </a:txBody>
                  <a:tcPr marL="100584" marR="82296" marT="50292" marB="50292"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時間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published_at · fetched_at</a:t>
                      </a: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（缺則留白並揭露，不捿造）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可重現性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query_or_parameters</a:t>
                      </a: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（不含金鑰）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內容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content_reference · normalized_fact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處理結果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reliability · independence_group · content_hash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狀態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is_cached · cache_time · is_stale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36208" y="1517904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Confidence rubric · 只有三級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36208" y="1773936"/>
          <a:ext cx="5303520" cy="1000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high</a:t>
                      </a:r>
                    </a:p>
                  </a:txBody>
                  <a:tcPr marL="100584" marR="82296" marT="50292" marB="50292"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≥2 個獨立群的 high／medium 支持、無 material conflict、無關鍵缺源，且關鍵數值全由 deterministic 工具產生</a:t>
                      </a:r>
                    </a:p>
                  </a:txBody>
                  <a:tcPr marL="100584" marR="82296" marT="50292" marB="50292"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medium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僅單一強獨立群支持、部分支持為 low reliability、樣本有限，或缺非關鍵來源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low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證據不足、存在 material conflict、關鍵資料 stale 或不可得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36208" y="3310128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Deterministic 硬上限 · 後於 LLM 執行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36208" y="3566160"/>
          <a:ext cx="5303520" cy="1371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insufficient_data=true</a:t>
                      </a: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→ 整體 low</a:t>
                      </a:r>
                    </a:p>
                  </a:txBody>
                  <a:tcPr marL="100584" marR="82296" marT="50292" marB="50292"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結論有 material conflict → 該結論 low，整體不得 high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支持的獨立群 &lt;2 → 該 claim 不得 high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只有 low 證據 → 該 claim low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唯一當期證據是 stale cache → 當期狀態主張 low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236208" y="5120640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模型自評的 confidence 只會被政策</a:t>
            </a:r>
            <a:r>
              <a:rPr sz="90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調低</a:t>
            </a:r>
            <a:r>
              <a:rPr sz="9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，永遠不會被放寬。禁止把三級信心描述成未校準的精確機率。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HOYA</a:t>
            </a:r>
            <a:r>
              <a:rPr sz="95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Market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98687" y="27432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Consolas"/>
                <a:ea typeface="Microsoft JhengHei"/>
                <a:cs typeface="Microsoft JhengHei"/>
              </a:rPr>
              <a:t>附錄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692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附錄 A4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783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來源清單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53312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兩份分開列：主管線是目前接線跑 live 的，資料側原型是廣度驗證。</a:t>
            </a:r>
            <a:r>
              <a:rPr sz="95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不合併計算</a:t>
            </a: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800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主管線 · 已接線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03120"/>
          <a:ext cx="5303520" cy="162763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8590A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來源</a:t>
                      </a:r>
                    </a:p>
                  </a:txBody>
                  <a:tcPr marL="100584" marR="82296" marT="50292" marB="50292">
                    <a:lnB w="17780">
                      <a:solidFill>
                        <a:srgbClr val="E6E6E1"/>
                      </a:solidFill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8590A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類型</a:t>
                      </a:r>
                    </a:p>
                  </a:txBody>
                  <a:tcPr marL="100584" marR="82296" marT="50292" marB="50292">
                    <a:lnB w="17780">
                      <a:solidFill>
                        <a:srgbClr val="E6E6E1"/>
                      </a:solidFill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8590A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可信度</a:t>
                      </a:r>
                    </a:p>
                  </a:txBody>
                  <a:tcPr marL="100584" marR="82296" marT="50292" marB="50292">
                    <a:lnB w="17780">
                      <a:solidFill>
                        <a:srgbClr val="E6E6E1"/>
                      </a:solidFill>
                    </a:lnB>
                    <a:solidFill>
                      <a:srgbClr val="FA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主辦 Daily OHLCV CSV</a:t>
                      </a:r>
                    </a:p>
                  </a:txBody>
                  <a:tcPr marL="100584" marR="82296" marT="50292" marB="50292">
                    <a:lnT w="1778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market</a:t>
                      </a:r>
                    </a:p>
                  </a:txBody>
                  <a:tcPr marL="100584" marR="82296" marT="50292" marB="50292">
                    <a:lnT w="1778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0B6544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high</a:t>
                      </a:r>
                    </a:p>
                  </a:txBody>
                  <a:tcPr marL="100584" marR="82296" marT="50292" marB="50292">
                    <a:lnT w="1778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Binance 公開 REST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market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0B6544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high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CoinDesk RSS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news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8A5205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medium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Google News（依幣種）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news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6B7385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low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Alternative.me 恐懼貪婪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social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6B7385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low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3950208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新聞用兩個獨立來源：固定第一手媒體 ＋ 依幣種搜尋。一般 RSS 偏 BTC／ETH，Google News 補上小幣覆蓋率。CryptoPanic 與官方公告 adapter 已實作並測過，視 token 與時間預算納入。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828800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資料側原型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35724" y="1819656"/>
            <a:ext cx="750824" cy="169164"/>
          </a:xfrm>
          <a:prstGeom prst="roundRect">
            <a:avLst>
              <a:gd name="adj" fmla="val 21621"/>
            </a:avLst>
          </a:prstGeom>
          <a:solidFill>
            <a:srgbClr val="E3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35724" y="1845259"/>
            <a:ext cx="7508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p2-etl-mvp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36208" y="2103120"/>
          <a:ext cx="5303520" cy="17688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8590A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維度</a:t>
                      </a:r>
                    </a:p>
                  </a:txBody>
                  <a:tcPr marL="100584" marR="82296" marT="50292" marB="50292">
                    <a:lnB w="17780">
                      <a:solidFill>
                        <a:srgbClr val="E6E6E1"/>
                      </a:solidFill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8590A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來源</a:t>
                      </a:r>
                    </a:p>
                  </a:txBody>
                  <a:tcPr marL="100584" marR="82296" marT="50292" marB="50292">
                    <a:lnB w="17780">
                      <a:solidFill>
                        <a:srgbClr val="E6E6E1"/>
                      </a:solidFill>
                    </a:lnB>
                    <a:solidFill>
                      <a:srgbClr val="FA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市場</a:t>
                      </a:r>
                    </a:p>
                  </a:txBody>
                  <a:tcPr marL="100584" marR="82296" marT="50292" marB="50292">
                    <a:lnT w="1778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主辦 CSV · Binance · </a:t>
                      </a: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OKX</a:t>
                      </a: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· CoinGecko</a:t>
                      </a:r>
                    </a:p>
                  </a:txBody>
                  <a:tcPr marL="100584" marR="82296" marT="50292" marB="50292">
                    <a:lnT w="1778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衍生品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Binance 永續</a:t>
                      </a: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資金費率</a:t>
                      </a: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（構桿情緒）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新聞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 家 RSS（CoinDesk、The Block、Decrypt、Cointelegraph…）· Google News · CryptoPanic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社群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Reddit r/CryptoCurrency（Atom）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情緒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Alternative.me 恐懼貪婪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236208" y="3950208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實測 ~15 來源、5 維度、~13 獨立群、一次 live 約 60 張證據卡。市場層有兩個獨立交易所可交叉驗證。</a:t>
            </a:r>
            <a:r>
              <a:rPr sz="90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全部幣種無關</a:t>
            </a:r>
            <a:r>
              <a:rPr sz="9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——用符號就能查五幣。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HOYA</a:t>
            </a:r>
            <a:r>
              <a:rPr sz="950" b="1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 Market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98687" y="27432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Consolas"/>
                <a:ea typeface="Microsoft JhengHei"/>
                <a:cs typeface="Microsoft JhengHei"/>
              </a:rPr>
              <a:t>附錄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692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6D88"/>
                </a:solidFill>
                <a:latin typeface="Microsoft JhengHei"/>
                <a:ea typeface="Microsoft JhengHei"/>
                <a:cs typeface="Microsoft JhengHei"/>
              </a:rPr>
              <a:t>附錄 A5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783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11726"/>
                </a:solidFill>
                <a:latin typeface="Microsoft JhengHei"/>
                <a:ea typeface="Microsoft JhengHei"/>
                <a:cs typeface="Microsoft JhengHei"/>
              </a:rPr>
              <a:t>我們刻意不做的事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53312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把邊界講清楚，比宣稱做了更多來得可信。以下都是已核准的範圍決定，不是還沒做完。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800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產品非目標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03120"/>
          <a:ext cx="5303520" cy="1371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自動交易、下單、個人化投資顧問</a:t>
                      </a:r>
                    </a:p>
                  </a:txBody>
                  <a:tcPr marL="100584" marR="82296" marT="50292" marB="50292"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宣稱可準確預測短期價格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自由循環的 Agent swarm 或多輪辩論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LLM 自行產生市場數值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訓練或微調大型模型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3749039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H3 Conditional Debate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4023360"/>
          <a:ext cx="5303520" cy="8229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flag </a:t>
                      </a:r>
                      <a:r>
                        <a:rPr sz="90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預設 false</a:t>
                      </a:r>
                      <a:r>
                        <a:rPr sz="90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，即使傳 true 也記為 disabled 並直接 route 到 Arbiter</a:t>
                      </a:r>
                    </a:p>
                  </a:txBody>
                  <a:tcPr marL="100584" marR="82296" marT="50292" marB="50292"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MVP 唯一實作是 </a:t>
                      </a:r>
                      <a:r>
                        <a:rPr sz="850" b="0">
                          <a:solidFill>
                            <a:srgbClr val="454F63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DisabledConflictExtension</a:t>
                      </a:r>
                      <a:r>
                        <a:rPr sz="90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：不做網路呼叫、不做 LLM 呼叫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簡報與 UI 必須標示為未實作</a:t>
                      </a:r>
                      <a:r>
                        <a:rPr sz="90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，不得宣稱 live 啟用過 Bull／Bear／Judge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36208" y="1828800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刻意排除的技術做法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36208" y="2103120"/>
          <a:ext cx="5303520" cy="1371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近似／語意去重</a:t>
                      </a:r>
                    </a:p>
                  </a:txBody>
                  <a:tcPr marL="100584" marR="82296" marT="50292" marB="50292"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兩天內驗不完，只做 SHA-256 精確比對</a:t>
                      </a:r>
                    </a:p>
                  </a:txBody>
                  <a:tcPr marL="100584" marR="82296" marT="50292" marB="50292"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動態 reliability 模型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不可解釋、不可測試，只用靜態表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自由 agent loop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與 deadline 保證衝突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per-coin 分支邏輯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現場抽哪個幣都跑同一條路徑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72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跨幣直接比 base volume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單位不同，比了沒有意義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236208" y="3749039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A6D88"/>
                </a:solidFill>
                <a:latin typeface="Consolas"/>
                <a:ea typeface="Microsoft JhengHei"/>
                <a:cs typeface="Microsoft JhengHei"/>
              </a:rPr>
              <a:t>非 MVP 基礎建設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36208" y="4023360"/>
          <a:ext cx="5303520" cy="8229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database · queue · broker · 向量 DB · scheduler</a:t>
                      </a:r>
                    </a:p>
                  </a:txBody>
                  <a:tcPr marL="100584" marR="82296" marT="50292" marB="50292"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S3 · CloudWatch · ECS · 水平擴展 · HA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54F6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LangGraph · Strands · FastAPI · Celery · Redis</a:t>
                      </a:r>
                    </a:p>
                  </a:txBody>
                  <a:tcPr marL="100584" marR="82296" marT="50292" marB="50292">
                    <a:lnT w="9525" cap="flat" cmpd="sng" algn="ctr">
                      <a:solidFill>
                        <a:srgbClr val="F0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0F0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236208" y="5138928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590A3"/>
                </a:solidFill>
                <a:latin typeface="Microsoft JhengHei"/>
                <a:ea typeface="Microsoft JhengHei"/>
                <a:cs typeface="Microsoft JhengHei"/>
              </a:rPr>
              <a:t>單台 EC2 同時間只接受一個 active run；MVP 不承諾 production auth、HA 或高並行。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2917</Words>
  <Application>Microsoft Office PowerPoint</Application>
  <PresentationFormat>寬螢幕</PresentationFormat>
  <Paragraphs>544</Paragraphs>
  <Slides>20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5" baseType="lpstr">
      <vt:lpstr>Microsoft JhengHei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Wayne Li</cp:lastModifiedBy>
  <cp:revision>2</cp:revision>
  <dcterms:created xsi:type="dcterms:W3CDTF">2013-01-27T09:14:16Z</dcterms:created>
  <dcterms:modified xsi:type="dcterms:W3CDTF">2026-08-02T05:23:58Z</dcterms:modified>
  <cp:category/>
</cp:coreProperties>
</file>